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2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7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9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1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8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1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3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9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0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4940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69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5530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01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16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0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15AE4-73FD-46E7-A8A0-7C91B8A8E251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A615C16-BB2E-4EEB-AD4D-8B6EEA43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70781F-EFF1-125F-6512-AF6AAA3DA3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l-GR" dirty="0"/>
              <a:t>ΤΕΧΝΗΤΗ ΝΟΗΜΟΣΥΝΗ ΚΑΙ ΜΙΚΡΟΫΠΗΡΕΣΙΕΣ</a:t>
            </a:r>
            <a:endParaRPr lang="en-US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DE20872-AFB2-7087-786D-593878CF60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/>
              <a:t>ΜΗΤΣΙΩΝΗΣ ΚΩΝΣΤΑΝΤΙΝΟΣ ΜΠΣΠ2529</a:t>
            </a:r>
          </a:p>
          <a:p>
            <a:r>
              <a:rPr lang="el-GR" dirty="0"/>
              <a:t>ΚΑΠΕΛΛΑΚΗ ΑΝΑΣΤΑΣΙΑ ΜΠΣΠ2513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3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0FDF03F-24B1-D7A8-D3AC-73257558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DRIVING CONTRACT </a:t>
            </a:r>
            <a:r>
              <a:rPr lang="el-GR" dirty="0"/>
              <a:t>ΣΕ </a:t>
            </a:r>
            <a:r>
              <a:rPr lang="en-US" dirty="0"/>
              <a:t>MICROSERVICE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3D8D68-BC2B-099C-8F42-FEB3044E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Σκο</a:t>
            </a:r>
            <a:r>
              <a:rPr lang="en-US" dirty="0"/>
              <a:t>πός της εργασίας είναι η δημιουργία και η δοκιμή δύο απλών μικροϋπηρεσιών:</a:t>
            </a:r>
          </a:p>
          <a:p>
            <a:pPr lvl="0"/>
            <a:r>
              <a:rPr lang="en-US" dirty="0" err="1"/>
              <a:t>μι</a:t>
            </a:r>
            <a:r>
              <a:rPr lang="en-US" dirty="0"/>
              <a:t>ας υπηρεσίας παρόχου πληροφοριών, Provider, </a:t>
            </a:r>
          </a:p>
          <a:p>
            <a:pPr lvl="0"/>
            <a:r>
              <a:rPr lang="en-US" dirty="0" err="1"/>
              <a:t>μι</a:t>
            </a:r>
            <a:r>
              <a:rPr lang="en-US" dirty="0"/>
              <a:t>ας υπηρεσίας καταναλωτή, Consumer. </a:t>
            </a:r>
          </a:p>
          <a:p>
            <a:r>
              <a:rPr lang="en-US" dirty="0"/>
              <a:t>Η επ</a:t>
            </a:r>
            <a:r>
              <a:rPr lang="en-US" dirty="0" err="1"/>
              <a:t>ικοινωνί</a:t>
            </a:r>
            <a:r>
              <a:rPr lang="en-US" dirty="0"/>
              <a:t>α τους βασίζεται σε ένα προκαθορισμένο συμβόλαιο δεδομένων.</a:t>
            </a:r>
          </a:p>
          <a:p>
            <a:r>
              <a:rPr lang="en-US" dirty="0" err="1"/>
              <a:t>Με</a:t>
            </a:r>
            <a:r>
              <a:rPr lang="en-US" dirty="0"/>
              <a:t> </a:t>
            </a:r>
            <a:r>
              <a:rPr lang="en-US" dirty="0" err="1"/>
              <a:t>τη</a:t>
            </a:r>
            <a:r>
              <a:rPr lang="en-US" dirty="0"/>
              <a:t> </a:t>
            </a:r>
            <a:r>
              <a:rPr lang="en-US" dirty="0" err="1"/>
              <a:t>χρήση</a:t>
            </a:r>
            <a:r>
              <a:rPr lang="en-US" dirty="0"/>
              <a:t> contract tests </a:t>
            </a:r>
            <a:r>
              <a:rPr lang="en-US" dirty="0" err="1"/>
              <a:t>ελέγχετ</a:t>
            </a:r>
            <a:r>
              <a:rPr lang="en-US" dirty="0"/>
              <a:t>αι ότι οι δύο υπηρεσίες παραμένουν συμβατές μεταξύ τους.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1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3824AFF-CBE8-B3E9-F4C5-14E5DDC43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666750"/>
            <a:ext cx="8915400" cy="5244472"/>
          </a:xfrm>
        </p:spPr>
        <p:txBody>
          <a:bodyPr/>
          <a:lstStyle/>
          <a:p>
            <a:r>
              <a:rPr lang="en-US" dirty="0"/>
              <a:t>CONTRACT TESTING</a:t>
            </a:r>
            <a:endParaRPr lang="el-GR" dirty="0"/>
          </a:p>
          <a:p>
            <a:r>
              <a:rPr lang="en-US" dirty="0" err="1"/>
              <a:t>Το</a:t>
            </a:r>
            <a:r>
              <a:rPr lang="en-US" dirty="0"/>
              <a:t> Contract Testing </a:t>
            </a:r>
            <a:r>
              <a:rPr lang="en-US" dirty="0" err="1"/>
              <a:t>είν</a:t>
            </a:r>
            <a:r>
              <a:rPr lang="en-US" dirty="0"/>
              <a:t>αι μία τεχνική ελέγχου της επικοινωνίας μεταξύ διαφορετικών υπηρεσιών.</a:t>
            </a:r>
          </a:p>
          <a:p>
            <a:r>
              <a:rPr lang="en-US" dirty="0" err="1"/>
              <a:t>Το</a:t>
            </a:r>
            <a:r>
              <a:rPr lang="en-US" dirty="0"/>
              <a:t> contract κα</a:t>
            </a:r>
            <a:r>
              <a:rPr lang="en-US" dirty="0" err="1"/>
              <a:t>θορίζει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τη</a:t>
            </a:r>
            <a:r>
              <a:rPr lang="en-US" dirty="0"/>
              <a:t> </a:t>
            </a:r>
            <a:r>
              <a:rPr lang="en-US" dirty="0" err="1"/>
              <a:t>μορφή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α</a:t>
            </a:r>
            <a:r>
              <a:rPr lang="en-US" dirty="0" err="1"/>
              <a:t>ιτήμ</a:t>
            </a:r>
            <a:r>
              <a:rPr lang="en-US" dirty="0"/>
              <a:t>ατος, </a:t>
            </a:r>
          </a:p>
          <a:p>
            <a:pPr lvl="0"/>
            <a:r>
              <a:rPr lang="en-US" dirty="0" err="1"/>
              <a:t>τη</a:t>
            </a:r>
            <a:r>
              <a:rPr lang="en-US" dirty="0"/>
              <a:t> </a:t>
            </a:r>
            <a:r>
              <a:rPr lang="en-US" dirty="0" err="1"/>
              <a:t>μορφή</a:t>
            </a:r>
            <a:r>
              <a:rPr lang="en-US" dirty="0"/>
              <a:t> </a:t>
            </a:r>
            <a:r>
              <a:rPr lang="en-US" dirty="0" err="1"/>
              <a:t>της</a:t>
            </a:r>
            <a:r>
              <a:rPr lang="en-US" dirty="0"/>
              <a:t> απ</a:t>
            </a:r>
            <a:r>
              <a:rPr lang="en-US" dirty="0" err="1"/>
              <a:t>όκρισης</a:t>
            </a:r>
            <a:r>
              <a:rPr lang="en-US" dirty="0"/>
              <a:t>, </a:t>
            </a:r>
          </a:p>
          <a:p>
            <a:pPr lvl="0"/>
            <a:r>
              <a:rPr lang="en-US" dirty="0"/>
              <a:t>τα </a:t>
            </a:r>
            <a:r>
              <a:rPr lang="en-US" dirty="0" err="1"/>
              <a:t>ονόμ</a:t>
            </a:r>
            <a:r>
              <a:rPr lang="en-US" dirty="0"/>
              <a:t>ατα των πεδίων, </a:t>
            </a:r>
          </a:p>
          <a:p>
            <a:pPr lvl="0"/>
            <a:r>
              <a:rPr lang="en-US" dirty="0" err="1"/>
              <a:t>τους</a:t>
            </a:r>
            <a:r>
              <a:rPr lang="en-US" dirty="0"/>
              <a:t> </a:t>
            </a:r>
            <a:r>
              <a:rPr lang="en-US" dirty="0" err="1"/>
              <a:t>τύ</a:t>
            </a:r>
            <a:r>
              <a:rPr lang="en-US" dirty="0"/>
              <a:t>πους δεδομένων, </a:t>
            </a:r>
          </a:p>
          <a:p>
            <a:pPr lvl="0"/>
            <a:r>
              <a:rPr lang="en-US" dirty="0" err="1"/>
              <a:t>τις</a:t>
            </a:r>
            <a:r>
              <a:rPr lang="en-US" dirty="0"/>
              <a:t> ανα</a:t>
            </a:r>
            <a:r>
              <a:rPr lang="en-US" dirty="0" err="1"/>
              <a:t>μενόμενες</a:t>
            </a:r>
            <a:r>
              <a:rPr lang="en-US" dirty="0"/>
              <a:t> </a:t>
            </a:r>
            <a:r>
              <a:rPr lang="en-US" dirty="0" err="1"/>
              <a:t>τιμές</a:t>
            </a:r>
            <a:r>
              <a:rPr lang="en-US" dirty="0"/>
              <a:t> και κατα</a:t>
            </a:r>
            <a:r>
              <a:rPr lang="en-US" dirty="0" err="1"/>
              <a:t>στάσεις</a:t>
            </a:r>
            <a:r>
              <a:rPr lang="en-US" dirty="0"/>
              <a:t>. </a:t>
            </a:r>
          </a:p>
          <a:p>
            <a:r>
              <a:rPr lang="en-US" dirty="0" err="1"/>
              <a:t>Έτσι</a:t>
            </a:r>
            <a:r>
              <a:rPr lang="en-US" dirty="0"/>
              <a:t>, </a:t>
            </a:r>
            <a:r>
              <a:rPr lang="en-US" dirty="0" err="1"/>
              <a:t>οι</a:t>
            </a:r>
            <a:r>
              <a:rPr lang="en-US" dirty="0"/>
              <a:t> υπ</a:t>
            </a:r>
            <a:r>
              <a:rPr lang="en-US" dirty="0" err="1"/>
              <a:t>ηρεσίες</a:t>
            </a:r>
            <a:r>
              <a:rPr lang="en-US" dirty="0"/>
              <a:t> μπ</a:t>
            </a:r>
            <a:r>
              <a:rPr lang="en-US" dirty="0" err="1"/>
              <a:t>ορούν</a:t>
            </a:r>
            <a:r>
              <a:rPr lang="en-US" dirty="0"/>
              <a:t> να </a:t>
            </a:r>
            <a:r>
              <a:rPr lang="en-US" dirty="0" err="1"/>
              <a:t>δοκιμάζοντ</a:t>
            </a:r>
            <a:r>
              <a:rPr lang="en-US" dirty="0"/>
              <a:t>αι ανεξάρτητα χωρίς να χρειάζεται να εκτελείται ολόκληρο το σύστημα.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66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9757517-D2FB-8AA9-FDD5-2285034C4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212" y="180974"/>
            <a:ext cx="8915400" cy="6276975"/>
          </a:xfrm>
        </p:spPr>
        <p:txBody>
          <a:bodyPr/>
          <a:lstStyle/>
          <a:p>
            <a:r>
              <a:rPr lang="en-US" dirty="0" err="1"/>
              <a:t>Στο</a:t>
            </a:r>
            <a:r>
              <a:rPr lang="en-US" dirty="0"/>
              <a:t> Consumer Driven Contract Testing, ο Consumer κα</a:t>
            </a:r>
            <a:r>
              <a:rPr lang="en-US" dirty="0" err="1"/>
              <a:t>θορίζει</a:t>
            </a:r>
            <a:r>
              <a:rPr lang="en-US" dirty="0"/>
              <a:t> τα </a:t>
            </a:r>
            <a:r>
              <a:rPr lang="en-US" dirty="0" err="1"/>
              <a:t>δεδομέν</a:t>
            </a:r>
            <a:r>
              <a:rPr lang="en-US" dirty="0"/>
              <a:t>α που αναμένει να λάβει από τον Provider.</a:t>
            </a:r>
          </a:p>
          <a:p>
            <a:r>
              <a:rPr lang="en-US" dirty="0"/>
              <a:t>Ο Provider π</a:t>
            </a:r>
            <a:r>
              <a:rPr lang="en-US" dirty="0" err="1"/>
              <a:t>ρέ</a:t>
            </a:r>
            <a:r>
              <a:rPr lang="en-US" dirty="0"/>
              <a:t>πει να ικανοποιεί αυτές τις απαιτήσεις.</a:t>
            </a:r>
          </a:p>
          <a:p>
            <a:r>
              <a:rPr lang="en-US" dirty="0" err="1"/>
              <a:t>Γι</a:t>
            </a:r>
            <a:r>
              <a:rPr lang="en-US" dirty="0"/>
              <a:t>α παράδειγμα, ο Consumer αναμένει ένα invoice με τα πεδία: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</a:t>
            </a:r>
            <a:r>
              <a:rPr lang="en-US" dirty="0" err="1"/>
              <a:t>invoiceId</a:t>
            </a:r>
            <a:r>
              <a:rPr lang="en-US" dirty="0"/>
              <a:t>": 1,</a:t>
            </a:r>
          </a:p>
          <a:p>
            <a:pPr marL="0" indent="0">
              <a:buNone/>
            </a:pPr>
            <a:r>
              <a:rPr lang="en-US" dirty="0"/>
              <a:t>  "</a:t>
            </a:r>
            <a:r>
              <a:rPr lang="en-US" dirty="0" err="1"/>
              <a:t>customerName</a:t>
            </a:r>
            <a:r>
              <a:rPr lang="en-US" dirty="0"/>
              <a:t>": "Maria Papadopoulou",</a:t>
            </a:r>
          </a:p>
          <a:p>
            <a:pPr marL="0" indent="0">
              <a:buNone/>
            </a:pPr>
            <a:r>
              <a:rPr lang="en-US" dirty="0"/>
              <a:t>  "amount": 120.5,</a:t>
            </a:r>
          </a:p>
          <a:p>
            <a:pPr marL="0" indent="0">
              <a:buNone/>
            </a:pPr>
            <a:r>
              <a:rPr lang="en-US" dirty="0"/>
              <a:t>  "status": "PAID"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 err="1"/>
              <a:t>Αν</a:t>
            </a:r>
            <a:r>
              <a:rPr lang="en-US" dirty="0"/>
              <a:t> α</a:t>
            </a:r>
            <a:r>
              <a:rPr lang="en-US" dirty="0" err="1"/>
              <a:t>λλάξει</a:t>
            </a:r>
            <a:r>
              <a:rPr lang="en-US" dirty="0"/>
              <a:t> </a:t>
            </a:r>
            <a:r>
              <a:rPr lang="en-US" dirty="0" err="1"/>
              <a:t>κά</a:t>
            </a:r>
            <a:r>
              <a:rPr lang="en-US" dirty="0"/>
              <a:t>ποιο πεδίο, το contract test αποτυγχάνει.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895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CF05DB9-F7E9-9B4B-EFE3-19E7C46C6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657225"/>
            <a:ext cx="8915400" cy="5253997"/>
          </a:xfrm>
        </p:spPr>
        <p:txBody>
          <a:bodyPr/>
          <a:lstStyle/>
          <a:p>
            <a:r>
              <a:rPr lang="en-US" b="1" dirty="0" err="1"/>
              <a:t>Τεχνολογίες</a:t>
            </a:r>
            <a:r>
              <a:rPr lang="en-US" b="1" dirty="0"/>
              <a:t> π</a:t>
            </a:r>
            <a:r>
              <a:rPr lang="en-US" b="1" dirty="0" err="1"/>
              <a:t>ου</a:t>
            </a:r>
            <a:r>
              <a:rPr lang="en-US" b="1" dirty="0"/>
              <a:t> </a:t>
            </a:r>
            <a:r>
              <a:rPr lang="en-US" b="1" dirty="0" err="1"/>
              <a:t>χρησιμο</a:t>
            </a:r>
            <a:r>
              <a:rPr lang="en-US" b="1" dirty="0"/>
              <a:t>ποιήθηκαν</a:t>
            </a:r>
          </a:p>
          <a:p>
            <a:r>
              <a:rPr lang="en-US" dirty="0" err="1"/>
              <a:t>Γι</a:t>
            </a:r>
            <a:r>
              <a:rPr lang="en-US" dirty="0"/>
              <a:t>α την υλοποίηση χρησιμοποιήθηκαν:</a:t>
            </a:r>
          </a:p>
          <a:p>
            <a:pPr lvl="0"/>
            <a:r>
              <a:rPr lang="en-US" b="1" dirty="0"/>
              <a:t>Python 3</a:t>
            </a:r>
            <a:r>
              <a:rPr lang="en-US" dirty="0"/>
              <a:t> </a:t>
            </a:r>
          </a:p>
          <a:p>
            <a:pPr lvl="0"/>
            <a:r>
              <a:rPr lang="en-US" b="1" dirty="0" err="1"/>
              <a:t>FastAPI</a:t>
            </a:r>
            <a:r>
              <a:rPr lang="en-US" dirty="0"/>
              <a:t> </a:t>
            </a:r>
            <a:r>
              <a:rPr lang="en-US" dirty="0" err="1"/>
              <a:t>γι</a:t>
            </a:r>
            <a:r>
              <a:rPr lang="en-US" dirty="0"/>
              <a:t>α την υπηρεσία Provider </a:t>
            </a:r>
          </a:p>
          <a:p>
            <a:pPr lvl="0"/>
            <a:r>
              <a:rPr lang="en-US" b="1" dirty="0" err="1"/>
              <a:t>Uvicorn</a:t>
            </a:r>
            <a:r>
              <a:rPr lang="en-US" dirty="0"/>
              <a:t> </a:t>
            </a:r>
            <a:r>
              <a:rPr lang="en-US" dirty="0" err="1"/>
              <a:t>γι</a:t>
            </a:r>
            <a:r>
              <a:rPr lang="en-US" dirty="0"/>
              <a:t>α την εκτέλεση του API </a:t>
            </a:r>
          </a:p>
          <a:p>
            <a:pPr lvl="0"/>
            <a:r>
              <a:rPr lang="en-US" b="1" dirty="0" err="1"/>
              <a:t>Pytest</a:t>
            </a:r>
            <a:r>
              <a:rPr lang="en-US" dirty="0"/>
              <a:t> </a:t>
            </a:r>
            <a:r>
              <a:rPr lang="en-US" dirty="0" err="1"/>
              <a:t>γι</a:t>
            </a:r>
            <a:r>
              <a:rPr lang="en-US" dirty="0"/>
              <a:t>α τα contract tests </a:t>
            </a:r>
          </a:p>
          <a:p>
            <a:pPr lvl="0"/>
            <a:r>
              <a:rPr lang="en-US" b="1" dirty="0"/>
              <a:t>HTTPX</a:t>
            </a:r>
            <a:r>
              <a:rPr lang="en-US" dirty="0"/>
              <a:t> </a:t>
            </a:r>
            <a:r>
              <a:rPr lang="en-US" dirty="0" err="1"/>
              <a:t>γι</a:t>
            </a:r>
            <a:r>
              <a:rPr lang="en-US" dirty="0"/>
              <a:t>α HTTP αιτήματα </a:t>
            </a:r>
          </a:p>
          <a:p>
            <a:pPr lvl="0"/>
            <a:r>
              <a:rPr lang="en-US" b="1" dirty="0"/>
              <a:t>Docker και Docker Compose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Swagger UI</a:t>
            </a:r>
            <a:r>
              <a:rPr lang="en-US" dirty="0"/>
              <a:t> </a:t>
            </a:r>
            <a:r>
              <a:rPr lang="en-US" dirty="0" err="1"/>
              <a:t>γι</a:t>
            </a:r>
            <a:r>
              <a:rPr lang="en-US" dirty="0"/>
              <a:t>α τη δοκιμή των endpoints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19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F4B07A7-91C6-473B-15AF-9751B02D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90525"/>
            <a:ext cx="8915400" cy="5520697"/>
          </a:xfrm>
        </p:spPr>
        <p:txBody>
          <a:bodyPr/>
          <a:lstStyle/>
          <a:p>
            <a:r>
              <a:rPr lang="en-US" b="1" dirty="0" err="1"/>
              <a:t>Αρχιτεκτονική</a:t>
            </a:r>
            <a:r>
              <a:rPr lang="en-US" b="1" dirty="0"/>
              <a:t> </a:t>
            </a:r>
            <a:r>
              <a:rPr lang="en-US" b="1" dirty="0" err="1"/>
              <a:t>της</a:t>
            </a:r>
            <a:r>
              <a:rPr lang="en-US" b="1" dirty="0"/>
              <a:t> </a:t>
            </a:r>
            <a:r>
              <a:rPr lang="en-US" b="1" dirty="0" err="1"/>
              <a:t>εφ</a:t>
            </a:r>
            <a:r>
              <a:rPr lang="en-US" b="1" dirty="0"/>
              <a:t>αρμογής</a:t>
            </a:r>
          </a:p>
          <a:p>
            <a:r>
              <a:rPr lang="en-US" dirty="0"/>
              <a:t>Η </a:t>
            </a:r>
            <a:r>
              <a:rPr lang="en-US" dirty="0" err="1"/>
              <a:t>εφ</a:t>
            </a:r>
            <a:r>
              <a:rPr lang="en-US" dirty="0"/>
              <a:t>αρμογή αποτελείται από δύο βασικά μέρη:</a:t>
            </a:r>
          </a:p>
          <a:p>
            <a:r>
              <a:rPr lang="en-US" b="1" dirty="0"/>
              <a:t>Provider</a:t>
            </a:r>
            <a:endParaRPr lang="en-US" dirty="0"/>
          </a:p>
          <a:p>
            <a:r>
              <a:rPr lang="en-US" dirty="0"/>
              <a:t>Πα</a:t>
            </a:r>
            <a:r>
              <a:rPr lang="en-US" dirty="0" err="1"/>
              <a:t>ρέχει</a:t>
            </a:r>
            <a:r>
              <a:rPr lang="en-US" dirty="0"/>
              <a:t> π</a:t>
            </a:r>
            <a:r>
              <a:rPr lang="en-US" dirty="0" err="1"/>
              <a:t>ληροφορίες</a:t>
            </a:r>
            <a:r>
              <a:rPr lang="en-US" dirty="0"/>
              <a:t> </a:t>
            </a:r>
            <a:r>
              <a:rPr lang="en-US" dirty="0" err="1"/>
              <a:t>τιμολογίων</a:t>
            </a:r>
            <a:r>
              <a:rPr lang="en-US" dirty="0"/>
              <a:t> </a:t>
            </a:r>
            <a:r>
              <a:rPr lang="en-US" dirty="0" err="1"/>
              <a:t>μέσω</a:t>
            </a:r>
            <a:r>
              <a:rPr lang="en-US" dirty="0"/>
              <a:t> REST API.</a:t>
            </a:r>
          </a:p>
          <a:p>
            <a:r>
              <a:rPr lang="en-US" b="1" dirty="0"/>
              <a:t>Consumer</a:t>
            </a:r>
            <a:endParaRPr lang="en-US" dirty="0"/>
          </a:p>
          <a:p>
            <a:r>
              <a:rPr lang="en-US" dirty="0"/>
              <a:t>Κατανα</a:t>
            </a:r>
            <a:r>
              <a:rPr lang="en-US" dirty="0" err="1"/>
              <a:t>λώνει</a:t>
            </a:r>
            <a:r>
              <a:rPr lang="en-US" dirty="0"/>
              <a:t> </a:t>
            </a:r>
            <a:r>
              <a:rPr lang="en-US" dirty="0" err="1"/>
              <a:t>τις</a:t>
            </a:r>
            <a:r>
              <a:rPr lang="en-US" dirty="0"/>
              <a:t> π</a:t>
            </a:r>
            <a:r>
              <a:rPr lang="en-US" dirty="0" err="1"/>
              <a:t>ληροφορίες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Provider και ανα</a:t>
            </a:r>
            <a:r>
              <a:rPr lang="en-US" dirty="0" err="1"/>
              <a:t>μένει</a:t>
            </a:r>
            <a:r>
              <a:rPr lang="en-US" dirty="0"/>
              <a:t> </a:t>
            </a:r>
            <a:r>
              <a:rPr lang="en-US" dirty="0" err="1"/>
              <a:t>συγκεκριμένη</a:t>
            </a:r>
            <a:r>
              <a:rPr lang="en-US" dirty="0"/>
              <a:t> </a:t>
            </a:r>
            <a:r>
              <a:rPr lang="en-US" dirty="0" err="1"/>
              <a:t>μορφή</a:t>
            </a:r>
            <a:r>
              <a:rPr lang="en-US" dirty="0"/>
              <a:t> JSON.</a:t>
            </a:r>
          </a:p>
          <a:p>
            <a:r>
              <a:rPr lang="en-US" dirty="0"/>
              <a:t>Η επ</a:t>
            </a:r>
            <a:r>
              <a:rPr lang="en-US" dirty="0" err="1"/>
              <a:t>ικοινωνί</a:t>
            </a:r>
            <a:r>
              <a:rPr lang="en-US" dirty="0"/>
              <a:t>α γίνεται μέσω HTTP.</a:t>
            </a:r>
          </a:p>
          <a:p>
            <a:r>
              <a:rPr lang="en-US" dirty="0"/>
              <a:t>Consumer → HTTP Request → Provider</a:t>
            </a:r>
          </a:p>
          <a:p>
            <a:r>
              <a:rPr lang="en-US" dirty="0"/>
              <a:t>Consumer ← JSON Response ← Provider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48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6690E16-8598-7203-0A9F-190286000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00063"/>
            <a:ext cx="8915400" cy="5411159"/>
          </a:xfrm>
        </p:spPr>
        <p:txBody>
          <a:bodyPr/>
          <a:lstStyle/>
          <a:p>
            <a:r>
              <a:rPr lang="en-US" dirty="0"/>
              <a:t>Η </a:t>
            </a:r>
            <a:r>
              <a:rPr lang="en-US" dirty="0" err="1"/>
              <a:t>εφ</a:t>
            </a:r>
            <a:r>
              <a:rPr lang="en-US" dirty="0"/>
              <a:t>αρμογή αποτελείται από δύο βασικά μέρη:</a:t>
            </a:r>
          </a:p>
          <a:p>
            <a:r>
              <a:rPr lang="en-US" b="1" dirty="0"/>
              <a:t>Provider</a:t>
            </a:r>
            <a:endParaRPr lang="en-US" dirty="0"/>
          </a:p>
          <a:p>
            <a:r>
              <a:rPr lang="en-US" dirty="0"/>
              <a:t>Πα</a:t>
            </a:r>
            <a:r>
              <a:rPr lang="en-US" dirty="0" err="1"/>
              <a:t>ρέχει</a:t>
            </a:r>
            <a:r>
              <a:rPr lang="en-US" dirty="0"/>
              <a:t> π</a:t>
            </a:r>
            <a:r>
              <a:rPr lang="en-US" dirty="0" err="1"/>
              <a:t>ληροφορίες</a:t>
            </a:r>
            <a:r>
              <a:rPr lang="en-US" dirty="0"/>
              <a:t> </a:t>
            </a:r>
            <a:r>
              <a:rPr lang="en-US" dirty="0" err="1"/>
              <a:t>τιμολογίων</a:t>
            </a:r>
            <a:r>
              <a:rPr lang="en-US" dirty="0"/>
              <a:t> </a:t>
            </a:r>
            <a:r>
              <a:rPr lang="en-US" dirty="0" err="1"/>
              <a:t>μέσω</a:t>
            </a:r>
            <a:r>
              <a:rPr lang="en-US" dirty="0"/>
              <a:t> REST API.</a:t>
            </a:r>
          </a:p>
          <a:p>
            <a:r>
              <a:rPr lang="en-US" b="1" dirty="0"/>
              <a:t>Consumer</a:t>
            </a:r>
            <a:endParaRPr lang="en-US" dirty="0"/>
          </a:p>
          <a:p>
            <a:r>
              <a:rPr lang="en-US" dirty="0"/>
              <a:t>Κατανα</a:t>
            </a:r>
            <a:r>
              <a:rPr lang="en-US" dirty="0" err="1"/>
              <a:t>λώνει</a:t>
            </a:r>
            <a:r>
              <a:rPr lang="en-US" dirty="0"/>
              <a:t> </a:t>
            </a:r>
            <a:r>
              <a:rPr lang="en-US" dirty="0" err="1"/>
              <a:t>τις</a:t>
            </a:r>
            <a:r>
              <a:rPr lang="en-US" dirty="0"/>
              <a:t> π</a:t>
            </a:r>
            <a:r>
              <a:rPr lang="en-US" dirty="0" err="1"/>
              <a:t>ληροφορίες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Provider και ανα</a:t>
            </a:r>
            <a:r>
              <a:rPr lang="en-US" dirty="0" err="1"/>
              <a:t>μένει</a:t>
            </a:r>
            <a:r>
              <a:rPr lang="en-US" dirty="0"/>
              <a:t> </a:t>
            </a:r>
            <a:r>
              <a:rPr lang="en-US" dirty="0" err="1"/>
              <a:t>συγκεκριμένη</a:t>
            </a:r>
            <a:r>
              <a:rPr lang="en-US" dirty="0"/>
              <a:t> </a:t>
            </a:r>
            <a:r>
              <a:rPr lang="en-US" dirty="0" err="1"/>
              <a:t>μορφή</a:t>
            </a:r>
            <a:r>
              <a:rPr lang="en-US" dirty="0"/>
              <a:t> JSON.</a:t>
            </a:r>
          </a:p>
          <a:p>
            <a:r>
              <a:rPr lang="en-US" dirty="0"/>
              <a:t>Η επ</a:t>
            </a:r>
            <a:r>
              <a:rPr lang="en-US" dirty="0" err="1"/>
              <a:t>ικοινωνί</a:t>
            </a:r>
            <a:r>
              <a:rPr lang="en-US" dirty="0"/>
              <a:t>α γίνεται μέσω HTTP.</a:t>
            </a:r>
          </a:p>
          <a:p>
            <a:r>
              <a:rPr lang="en-US" dirty="0"/>
              <a:t>Consumer → HTTP Request → Provider</a:t>
            </a:r>
          </a:p>
          <a:p>
            <a:r>
              <a:rPr lang="en-US" dirty="0"/>
              <a:t>Consumer ← JSON Response ← Provider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3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114CBDE-55F3-5DD1-3015-D434BB462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828675"/>
            <a:ext cx="8915400" cy="508254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/>
              <a:t>Δομή</a:t>
            </a:r>
            <a:r>
              <a:rPr lang="en-US" b="1" dirty="0"/>
              <a:t> </a:t>
            </a:r>
            <a:r>
              <a:rPr lang="en-US" b="1" dirty="0" err="1"/>
              <a:t>του</a:t>
            </a:r>
            <a:r>
              <a:rPr lang="en-US" b="1" dirty="0"/>
              <a:t> project</a:t>
            </a:r>
          </a:p>
          <a:p>
            <a:r>
              <a:rPr lang="en-US" dirty="0"/>
              <a:t>Η βα</a:t>
            </a:r>
            <a:r>
              <a:rPr lang="en-US" dirty="0" err="1"/>
              <a:t>σική</a:t>
            </a:r>
            <a:r>
              <a:rPr lang="en-US" dirty="0"/>
              <a:t> </a:t>
            </a:r>
            <a:r>
              <a:rPr lang="en-US" dirty="0" err="1"/>
              <a:t>δομή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project </a:t>
            </a:r>
            <a:r>
              <a:rPr lang="en-US" dirty="0" err="1"/>
              <a:t>είν</a:t>
            </a:r>
            <a:r>
              <a:rPr lang="en-US" dirty="0"/>
              <a:t>αι:</a:t>
            </a:r>
          </a:p>
          <a:p>
            <a:r>
              <a:rPr lang="en-US" dirty="0" err="1"/>
              <a:t>python_contract_testing_microservices</a:t>
            </a:r>
            <a:r>
              <a:rPr lang="en-US" dirty="0"/>
              <a:t>/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provider/</a:t>
            </a:r>
          </a:p>
          <a:p>
            <a:r>
              <a:rPr lang="en-US" dirty="0"/>
              <a:t>│   └── main.py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consumer/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tests/</a:t>
            </a:r>
          </a:p>
          <a:p>
            <a:r>
              <a:rPr lang="en-US" dirty="0"/>
              <a:t>│   ├── test_consumer_with_mock_provider.py</a:t>
            </a:r>
          </a:p>
          <a:p>
            <a:r>
              <a:rPr lang="en-US" dirty="0"/>
              <a:t>│   └── test_provider_contract.py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requirements.txt</a:t>
            </a:r>
          </a:p>
          <a:p>
            <a:r>
              <a:rPr lang="en-US" dirty="0"/>
              <a:t>├── </a:t>
            </a:r>
            <a:r>
              <a:rPr lang="en-US" dirty="0" err="1"/>
              <a:t>Dockerfile</a:t>
            </a:r>
            <a:endParaRPr lang="en-US" dirty="0"/>
          </a:p>
          <a:p>
            <a:r>
              <a:rPr lang="en-US" dirty="0"/>
              <a:t>└── docker-</a:t>
            </a:r>
            <a:r>
              <a:rPr lang="en-US" dirty="0" err="1"/>
              <a:t>compose.yml</a:t>
            </a:r>
            <a:endParaRPr lang="en-US" dirty="0"/>
          </a:p>
          <a:p>
            <a:r>
              <a:rPr lang="en-US" dirty="0"/>
              <a:t>Ο </a:t>
            </a:r>
            <a:r>
              <a:rPr lang="en-US" dirty="0" err="1"/>
              <a:t>κώδικ</a:t>
            </a:r>
            <a:r>
              <a:rPr lang="en-US" dirty="0"/>
              <a:t>ας των υπηρεσιών διαχωρίζεται από τον κώδικα των tests.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1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2FBC158-7FD8-9888-E218-201AE2706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628651"/>
            <a:ext cx="8915399" cy="5275012"/>
          </a:xfrm>
        </p:spPr>
        <p:txBody>
          <a:bodyPr/>
          <a:lstStyle/>
          <a:p>
            <a:r>
              <a:rPr lang="en-US" dirty="0" err="1"/>
              <a:t>Το</a:t>
            </a:r>
            <a:r>
              <a:rPr lang="en-US" dirty="0"/>
              <a:t> βα</a:t>
            </a:r>
            <a:r>
              <a:rPr lang="en-US" dirty="0" err="1"/>
              <a:t>σικό</a:t>
            </a:r>
            <a:r>
              <a:rPr lang="en-US" dirty="0"/>
              <a:t> α</a:t>
            </a:r>
            <a:r>
              <a:rPr lang="en-US" dirty="0" err="1"/>
              <a:t>ντικείμενο</a:t>
            </a:r>
            <a:r>
              <a:rPr lang="en-US" dirty="0"/>
              <a:t> </a:t>
            </a:r>
            <a:r>
              <a:rPr lang="en-US" dirty="0" err="1"/>
              <a:t>της</a:t>
            </a:r>
            <a:r>
              <a:rPr lang="en-US" dirty="0"/>
              <a:t> </a:t>
            </a:r>
            <a:r>
              <a:rPr lang="en-US" dirty="0" err="1"/>
              <a:t>εφ</a:t>
            </a:r>
            <a:r>
              <a:rPr lang="en-US" dirty="0"/>
              <a:t>αρμογής είναι το τιμολόγιο, Invoice.</a:t>
            </a:r>
          </a:p>
          <a:p>
            <a:r>
              <a:rPr lang="en-US" dirty="0" err="1"/>
              <a:t>Κάθε</a:t>
            </a:r>
            <a:r>
              <a:rPr lang="en-US" dirty="0"/>
              <a:t> invoice π</a:t>
            </a:r>
            <a:r>
              <a:rPr lang="en-US" dirty="0" err="1"/>
              <a:t>εριλ</a:t>
            </a:r>
            <a:r>
              <a:rPr lang="en-US" dirty="0"/>
              <a:t>αμβάνει:</a:t>
            </a:r>
          </a:p>
          <a:p>
            <a:pPr lvl="0"/>
            <a:r>
              <a:rPr lang="en-US" dirty="0" err="1"/>
              <a:t>invoiceId</a:t>
            </a:r>
            <a:r>
              <a:rPr lang="en-US" dirty="0"/>
              <a:t>: </a:t>
            </a:r>
            <a:r>
              <a:rPr lang="en-US" dirty="0" err="1"/>
              <a:t>μον</a:t>
            </a:r>
            <a:r>
              <a:rPr lang="en-US" dirty="0"/>
              <a:t>αδικός αριθμός τιμολογίου, </a:t>
            </a:r>
          </a:p>
          <a:p>
            <a:pPr lvl="0"/>
            <a:r>
              <a:rPr lang="en-US" dirty="0" err="1"/>
              <a:t>customerName</a:t>
            </a:r>
            <a:r>
              <a:rPr lang="en-US" dirty="0"/>
              <a:t>: </a:t>
            </a:r>
            <a:r>
              <a:rPr lang="en-US" dirty="0" err="1"/>
              <a:t>όνομ</a:t>
            </a:r>
            <a:r>
              <a:rPr lang="en-US" dirty="0"/>
              <a:t>α πελάτη, </a:t>
            </a:r>
          </a:p>
          <a:p>
            <a:pPr lvl="0"/>
            <a:r>
              <a:rPr lang="en-US" dirty="0"/>
              <a:t>amount: </a:t>
            </a:r>
            <a:r>
              <a:rPr lang="en-US" dirty="0" err="1"/>
              <a:t>συνολικό</a:t>
            </a:r>
            <a:r>
              <a:rPr lang="en-US" dirty="0"/>
              <a:t> π</a:t>
            </a:r>
            <a:r>
              <a:rPr lang="en-US" dirty="0" err="1"/>
              <a:t>οσό</a:t>
            </a:r>
            <a:r>
              <a:rPr lang="en-US" dirty="0"/>
              <a:t>, </a:t>
            </a:r>
          </a:p>
          <a:p>
            <a:pPr lvl="0"/>
            <a:r>
              <a:rPr lang="en-US" dirty="0"/>
              <a:t>status: κα</a:t>
            </a:r>
            <a:r>
              <a:rPr lang="en-US" dirty="0" err="1"/>
              <a:t>τάστ</a:t>
            </a:r>
            <a:r>
              <a:rPr lang="en-US" dirty="0"/>
              <a:t>αση πληρωμής. </a:t>
            </a:r>
          </a:p>
          <a:p>
            <a:r>
              <a:rPr lang="en-US" dirty="0"/>
              <a:t>Παρα</a:t>
            </a:r>
            <a:r>
              <a:rPr lang="en-US" dirty="0" err="1"/>
              <a:t>δείγμ</a:t>
            </a:r>
            <a:r>
              <a:rPr lang="en-US" dirty="0"/>
              <a:t>ατα καταστάσεων:</a:t>
            </a:r>
          </a:p>
          <a:p>
            <a:r>
              <a:rPr lang="en-US" dirty="0"/>
              <a:t>PAID</a:t>
            </a:r>
          </a:p>
          <a:p>
            <a:r>
              <a:rPr lang="en-US" dirty="0"/>
              <a:t>PENDING</a:t>
            </a:r>
          </a:p>
          <a:p>
            <a:r>
              <a:rPr lang="en-US" dirty="0"/>
              <a:t>Η </a:t>
            </a:r>
            <a:r>
              <a:rPr lang="en-US" dirty="0" err="1"/>
              <a:t>ονομ</a:t>
            </a:r>
            <a:r>
              <a:rPr lang="en-US" dirty="0"/>
              <a:t>ασία και ο τύπος κάθε πεδίου αποτελούν μέρος του contract.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1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45EFB3C-86C6-4B0F-97B9-6654E3A61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28625"/>
            <a:ext cx="8915400" cy="5482597"/>
          </a:xfrm>
        </p:spPr>
        <p:txBody>
          <a:bodyPr/>
          <a:lstStyle/>
          <a:p>
            <a:r>
              <a:rPr lang="en-US" b="1" dirty="0"/>
              <a:t>Provider REST API</a:t>
            </a:r>
          </a:p>
          <a:p>
            <a:r>
              <a:rPr lang="en-US" dirty="0"/>
              <a:t>Ο Provider </a:t>
            </a:r>
            <a:r>
              <a:rPr lang="en-US" dirty="0" err="1"/>
              <a:t>υλο</a:t>
            </a:r>
            <a:r>
              <a:rPr lang="en-US" dirty="0"/>
              <a:t>ποιήθηκε με FastAPI.</a:t>
            </a:r>
          </a:p>
          <a:p>
            <a:r>
              <a:rPr lang="en-US" dirty="0" err="1"/>
              <a:t>Το</a:t>
            </a:r>
            <a:r>
              <a:rPr lang="en-US" dirty="0"/>
              <a:t> βα</a:t>
            </a:r>
            <a:r>
              <a:rPr lang="en-US" dirty="0" err="1"/>
              <a:t>σικό</a:t>
            </a:r>
            <a:r>
              <a:rPr lang="en-US" dirty="0"/>
              <a:t> endpoint </a:t>
            </a:r>
            <a:r>
              <a:rPr lang="en-US" dirty="0" err="1"/>
              <a:t>είν</a:t>
            </a:r>
            <a:r>
              <a:rPr lang="en-US" dirty="0"/>
              <a:t>αι:</a:t>
            </a:r>
          </a:p>
          <a:p>
            <a:r>
              <a:rPr lang="en-US" dirty="0"/>
              <a:t>GET /invoices/{</a:t>
            </a:r>
            <a:r>
              <a:rPr lang="en-US" dirty="0" err="1"/>
              <a:t>invoice_id</a:t>
            </a:r>
            <a:r>
              <a:rPr lang="en-US" dirty="0"/>
              <a:t>}</a:t>
            </a:r>
          </a:p>
          <a:p>
            <a:r>
              <a:rPr lang="en-US" dirty="0"/>
              <a:t>Ο Provider </a:t>
            </a:r>
            <a:r>
              <a:rPr lang="en-US" dirty="0" err="1"/>
              <a:t>δέχετ</a:t>
            </a:r>
            <a:r>
              <a:rPr lang="en-US" dirty="0"/>
              <a:t>αι έναν ακέραιο αριθμό ως invoice_id και επιστρέφει το αντίστοιχο invoice σε μορφή JSON.</a:t>
            </a:r>
          </a:p>
          <a:p>
            <a:r>
              <a:rPr lang="en-US" dirty="0"/>
              <a:t>Η </a:t>
            </a:r>
            <a:r>
              <a:rPr lang="en-US" dirty="0" err="1"/>
              <a:t>τεκμηρίωση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API </a:t>
            </a:r>
            <a:r>
              <a:rPr lang="en-US" dirty="0" err="1"/>
              <a:t>είν</a:t>
            </a:r>
            <a:r>
              <a:rPr lang="en-US" dirty="0"/>
              <a:t>αι διαθέσιμη στη διεύθυνση:</a:t>
            </a:r>
          </a:p>
          <a:p>
            <a:r>
              <a:rPr lang="en-US" dirty="0"/>
              <a:t>http://localhost:8000/docs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754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000F321-01E5-0555-2D9D-36DFC657F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762000"/>
            <a:ext cx="8915400" cy="5149222"/>
          </a:xfrm>
        </p:spPr>
        <p:txBody>
          <a:bodyPr/>
          <a:lstStyle/>
          <a:p>
            <a:r>
              <a:rPr lang="en-US" b="1" dirty="0"/>
              <a:t>Πα</a:t>
            </a:r>
            <a:r>
              <a:rPr lang="en-US" b="1" dirty="0" err="1"/>
              <a:t>ράδειγμ</a:t>
            </a:r>
            <a:r>
              <a:rPr lang="en-US" b="1" dirty="0"/>
              <a:t>α Invoice 1</a:t>
            </a:r>
          </a:p>
          <a:p>
            <a:r>
              <a:rPr lang="en-US" dirty="0" err="1"/>
              <a:t>Γι</a:t>
            </a:r>
            <a:r>
              <a:rPr lang="en-US" dirty="0"/>
              <a:t>α την κλήση:</a:t>
            </a:r>
          </a:p>
          <a:p>
            <a:r>
              <a:rPr lang="en-US" dirty="0"/>
              <a:t>GET /invoices/1</a:t>
            </a:r>
          </a:p>
          <a:p>
            <a:r>
              <a:rPr lang="en-US" dirty="0"/>
              <a:t>ο Provider επ</a:t>
            </a:r>
            <a:r>
              <a:rPr lang="en-US" dirty="0" err="1"/>
              <a:t>ιστρέφει</a:t>
            </a:r>
            <a:r>
              <a:rPr lang="en-US" dirty="0"/>
              <a:t>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invoiceId</a:t>
            </a:r>
            <a:r>
              <a:rPr lang="en-US" dirty="0"/>
              <a:t>": 1,</a:t>
            </a:r>
          </a:p>
          <a:p>
            <a:r>
              <a:rPr lang="en-US" dirty="0"/>
              <a:t>  "</a:t>
            </a:r>
            <a:r>
              <a:rPr lang="en-US" dirty="0" err="1"/>
              <a:t>customerName</a:t>
            </a:r>
            <a:r>
              <a:rPr lang="en-US" dirty="0"/>
              <a:t>": "Maria Papadopoulou",</a:t>
            </a:r>
          </a:p>
          <a:p>
            <a:r>
              <a:rPr lang="en-US" dirty="0"/>
              <a:t>  "amount": 120.5,</a:t>
            </a:r>
          </a:p>
          <a:p>
            <a:r>
              <a:rPr lang="en-US" dirty="0"/>
              <a:t>  "status": "PAID"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Ο </a:t>
            </a:r>
            <a:r>
              <a:rPr lang="en-US" dirty="0" err="1"/>
              <a:t>κωδικός</a:t>
            </a:r>
            <a:r>
              <a:rPr lang="en-US" dirty="0"/>
              <a:t> απ</a:t>
            </a:r>
            <a:r>
              <a:rPr lang="en-US" dirty="0" err="1"/>
              <a:t>όκρισης</a:t>
            </a:r>
            <a:r>
              <a:rPr lang="en-US" dirty="0"/>
              <a:t> </a:t>
            </a:r>
            <a:r>
              <a:rPr lang="en-US" dirty="0" err="1"/>
              <a:t>είν</a:t>
            </a:r>
            <a:r>
              <a:rPr lang="en-US" dirty="0"/>
              <a:t>αι:</a:t>
            </a:r>
          </a:p>
          <a:p>
            <a:r>
              <a:rPr lang="en-US" dirty="0"/>
              <a:t>200 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73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508657E-09E6-41C0-9F09-736FC9A4F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09588"/>
            <a:ext cx="8915400" cy="540163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Πα</a:t>
            </a:r>
            <a:r>
              <a:rPr lang="en-US" b="1" dirty="0" err="1"/>
              <a:t>ράδειγμ</a:t>
            </a:r>
            <a:r>
              <a:rPr lang="en-US" b="1" dirty="0"/>
              <a:t>α Invoice 2</a:t>
            </a:r>
          </a:p>
          <a:p>
            <a:r>
              <a:rPr lang="en-US" dirty="0" err="1"/>
              <a:t>Γι</a:t>
            </a:r>
            <a:r>
              <a:rPr lang="en-US" dirty="0"/>
              <a:t>α την κλήση:</a:t>
            </a:r>
          </a:p>
          <a:p>
            <a:r>
              <a:rPr lang="en-US" dirty="0"/>
              <a:t>GET /invoices/2</a:t>
            </a:r>
          </a:p>
          <a:p>
            <a:r>
              <a:rPr lang="en-US" dirty="0"/>
              <a:t>ο Provider επ</a:t>
            </a:r>
            <a:r>
              <a:rPr lang="en-US" dirty="0" err="1"/>
              <a:t>ιστρέφει</a:t>
            </a:r>
            <a:r>
              <a:rPr lang="en-US" dirty="0"/>
              <a:t>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invoiceId</a:t>
            </a:r>
            <a:r>
              <a:rPr lang="en-US" dirty="0"/>
              <a:t>": 2,</a:t>
            </a:r>
          </a:p>
          <a:p>
            <a:r>
              <a:rPr lang="en-US" dirty="0"/>
              <a:t>  "</a:t>
            </a:r>
            <a:r>
              <a:rPr lang="en-US" dirty="0" err="1"/>
              <a:t>customerName</a:t>
            </a:r>
            <a:r>
              <a:rPr lang="en-US" dirty="0"/>
              <a:t>": "Nikos Georgiou",</a:t>
            </a:r>
          </a:p>
          <a:p>
            <a:r>
              <a:rPr lang="en-US" dirty="0"/>
              <a:t>  "amount": 89.9,</a:t>
            </a:r>
          </a:p>
          <a:p>
            <a:r>
              <a:rPr lang="en-US" dirty="0"/>
              <a:t>  "status": "PENDING"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Ο </a:t>
            </a:r>
            <a:r>
              <a:rPr lang="en-US" dirty="0" err="1"/>
              <a:t>κωδικός</a:t>
            </a:r>
            <a:r>
              <a:rPr lang="en-US" dirty="0"/>
              <a:t> απ</a:t>
            </a:r>
            <a:r>
              <a:rPr lang="en-US" dirty="0" err="1"/>
              <a:t>όκρισης</a:t>
            </a:r>
            <a:r>
              <a:rPr lang="en-US" dirty="0"/>
              <a:t> </a:t>
            </a:r>
            <a:r>
              <a:rPr lang="en-US" dirty="0" err="1"/>
              <a:t>είν</a:t>
            </a:r>
            <a:r>
              <a:rPr lang="en-US" dirty="0"/>
              <a:t>αι:</a:t>
            </a:r>
          </a:p>
          <a:p>
            <a:r>
              <a:rPr lang="en-US" dirty="0"/>
              <a:t>200 OK</a:t>
            </a:r>
          </a:p>
          <a:p>
            <a:r>
              <a:rPr lang="en-US" dirty="0"/>
              <a:t>Η </a:t>
            </a:r>
            <a:r>
              <a:rPr lang="en-US" dirty="0" err="1"/>
              <a:t>δεύτερη</a:t>
            </a:r>
            <a:r>
              <a:rPr lang="en-US" dirty="0"/>
              <a:t> </a:t>
            </a:r>
            <a:r>
              <a:rPr lang="en-US" dirty="0" err="1"/>
              <a:t>δοκιμή</a:t>
            </a:r>
            <a:r>
              <a:rPr lang="en-US" dirty="0"/>
              <a:t> επιβεβα</a:t>
            </a:r>
            <a:r>
              <a:rPr lang="en-US" dirty="0" err="1"/>
              <a:t>ιώνει</a:t>
            </a:r>
            <a:r>
              <a:rPr lang="en-US" dirty="0"/>
              <a:t> </a:t>
            </a:r>
            <a:r>
              <a:rPr lang="en-US" dirty="0" err="1"/>
              <a:t>ότι</a:t>
            </a:r>
            <a:r>
              <a:rPr lang="en-US" dirty="0"/>
              <a:t> </a:t>
            </a:r>
            <a:r>
              <a:rPr lang="en-US" dirty="0" err="1"/>
              <a:t>το</a:t>
            </a:r>
            <a:r>
              <a:rPr lang="en-US" dirty="0"/>
              <a:t> API </a:t>
            </a:r>
            <a:r>
              <a:rPr lang="en-US" dirty="0" err="1"/>
              <a:t>χειρίζετ</a:t>
            </a:r>
            <a:r>
              <a:rPr lang="en-US" dirty="0"/>
              <a:t>αι διαφορετικά invoices με το ίδιο contract.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671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029A922-69A6-3F5A-0E38-C1771DA9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628650"/>
            <a:ext cx="8915400" cy="5282572"/>
          </a:xfrm>
        </p:spPr>
        <p:txBody>
          <a:bodyPr/>
          <a:lstStyle/>
          <a:p>
            <a:r>
              <a:rPr lang="en-US" dirty="0" err="1"/>
              <a:t>Το</a:t>
            </a:r>
            <a:r>
              <a:rPr lang="en-US" dirty="0"/>
              <a:t> endpoint απα</a:t>
            </a:r>
            <a:r>
              <a:rPr lang="en-US" dirty="0" err="1"/>
              <a:t>ιτεί</a:t>
            </a:r>
            <a:r>
              <a:rPr lang="en-US" dirty="0"/>
              <a:t> </a:t>
            </a:r>
            <a:r>
              <a:rPr lang="en-US" dirty="0" err="1"/>
              <a:t>το</a:t>
            </a:r>
            <a:r>
              <a:rPr lang="en-US" dirty="0"/>
              <a:t> </a:t>
            </a:r>
            <a:r>
              <a:rPr lang="en-US" dirty="0" err="1"/>
              <a:t>invoice_id</a:t>
            </a:r>
            <a:r>
              <a:rPr lang="en-US" dirty="0"/>
              <a:t> να </a:t>
            </a:r>
            <a:r>
              <a:rPr lang="en-US" dirty="0" err="1"/>
              <a:t>είν</a:t>
            </a:r>
            <a:r>
              <a:rPr lang="en-US" dirty="0"/>
              <a:t>αι ακέραιος αριθμός.</a:t>
            </a:r>
          </a:p>
          <a:p>
            <a:r>
              <a:rPr lang="en-US" dirty="0" err="1"/>
              <a:t>Γι</a:t>
            </a:r>
            <a:r>
              <a:rPr lang="en-US" dirty="0"/>
              <a:t>α παράδειγμα:</a:t>
            </a:r>
          </a:p>
          <a:p>
            <a:r>
              <a:rPr lang="en-US" dirty="0"/>
              <a:t>GET /invoices/</a:t>
            </a:r>
            <a:r>
              <a:rPr lang="en-US" dirty="0" err="1"/>
              <a:t>abc</a:t>
            </a:r>
            <a:endParaRPr lang="en-US" dirty="0"/>
          </a:p>
          <a:p>
            <a:r>
              <a:rPr lang="en-US" dirty="0" err="1"/>
              <a:t>δεν</a:t>
            </a:r>
            <a:r>
              <a:rPr lang="en-US" dirty="0"/>
              <a:t> </a:t>
            </a:r>
            <a:r>
              <a:rPr lang="en-US" dirty="0" err="1"/>
              <a:t>είν</a:t>
            </a:r>
            <a:r>
              <a:rPr lang="en-US" dirty="0"/>
              <a:t>αι έγκυρο, επειδή το abc δεν μπορεί να μετατραπεί σε ακέραιο.</a:t>
            </a:r>
          </a:p>
          <a:p>
            <a:r>
              <a:rPr lang="en-US" dirty="0" err="1"/>
              <a:t>Σε</a:t>
            </a:r>
            <a:r>
              <a:rPr lang="en-US" dirty="0"/>
              <a:t> α</a:t>
            </a:r>
            <a:r>
              <a:rPr lang="en-US" dirty="0" err="1"/>
              <a:t>υτή</a:t>
            </a:r>
            <a:r>
              <a:rPr lang="en-US" dirty="0"/>
              <a:t> </a:t>
            </a:r>
            <a:r>
              <a:rPr lang="en-US" dirty="0" err="1"/>
              <a:t>την</a:t>
            </a:r>
            <a:r>
              <a:rPr lang="en-US" dirty="0"/>
              <a:t> π</a:t>
            </a:r>
            <a:r>
              <a:rPr lang="en-US" dirty="0" err="1"/>
              <a:t>ερί</a:t>
            </a:r>
            <a:r>
              <a:rPr lang="en-US" dirty="0"/>
              <a:t>πτωση το FastAPI επιστρέφει:</a:t>
            </a:r>
          </a:p>
          <a:p>
            <a:r>
              <a:rPr lang="en-US" dirty="0"/>
              <a:t>422 Validation Error</a:t>
            </a:r>
          </a:p>
          <a:p>
            <a:r>
              <a:rPr lang="en-US" dirty="0" err="1"/>
              <a:t>Το</a:t>
            </a:r>
            <a:r>
              <a:rPr lang="en-US" dirty="0"/>
              <a:t> 422 α</a:t>
            </a:r>
            <a:r>
              <a:rPr lang="en-US" dirty="0" err="1"/>
              <a:t>φορά</a:t>
            </a:r>
            <a:r>
              <a:rPr lang="en-US" dirty="0"/>
              <a:t> λα</a:t>
            </a:r>
            <a:r>
              <a:rPr lang="en-US" dirty="0" err="1"/>
              <a:t>νθ</a:t>
            </a:r>
            <a:r>
              <a:rPr lang="en-US" dirty="0"/>
              <a:t>ασμένη μορφή εισόδου και όχι αποτυχία του Provider.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563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68ADD50-F645-8479-7ED0-02E5EAA0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671513"/>
            <a:ext cx="8915400" cy="523970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Υλο</a:t>
            </a:r>
            <a:r>
              <a:rPr lang="en-US" dirty="0"/>
              <a:t>ποιήθηκαν τρία tests με Pytest:</a:t>
            </a:r>
          </a:p>
          <a:p>
            <a:pPr lvl="0"/>
            <a:r>
              <a:rPr lang="en-US" dirty="0" err="1"/>
              <a:t>Έλεγχος</a:t>
            </a:r>
            <a:r>
              <a:rPr lang="en-US" dirty="0"/>
              <a:t> </a:t>
            </a:r>
            <a:r>
              <a:rPr lang="en-US" dirty="0" err="1"/>
              <a:t>ότι</a:t>
            </a:r>
            <a:r>
              <a:rPr lang="en-US" dirty="0"/>
              <a:t> </a:t>
            </a:r>
            <a:r>
              <a:rPr lang="en-US" dirty="0" err="1"/>
              <a:t>το</a:t>
            </a:r>
            <a:r>
              <a:rPr lang="en-US" dirty="0"/>
              <a:t> invoice </a:t>
            </a:r>
            <a:r>
              <a:rPr lang="en-US" dirty="0" err="1"/>
              <a:t>σειριο</a:t>
            </a:r>
            <a:r>
              <a:rPr lang="en-US" dirty="0"/>
              <a:t>ποιείται σύμφωνα με το contract. </a:t>
            </a:r>
          </a:p>
          <a:p>
            <a:pPr lvl="0"/>
            <a:r>
              <a:rPr lang="en-US" dirty="0" err="1"/>
              <a:t>Έλεγχος</a:t>
            </a:r>
            <a:r>
              <a:rPr lang="en-US" dirty="0"/>
              <a:t> </a:t>
            </a:r>
            <a:r>
              <a:rPr lang="en-US" dirty="0" err="1"/>
              <a:t>ότι</a:t>
            </a:r>
            <a:r>
              <a:rPr lang="en-US" dirty="0"/>
              <a:t> ο Consumer μπ</a:t>
            </a:r>
            <a:r>
              <a:rPr lang="en-US" dirty="0" err="1"/>
              <a:t>ορεί</a:t>
            </a:r>
            <a:r>
              <a:rPr lang="en-US" dirty="0"/>
              <a:t> να απ</a:t>
            </a:r>
            <a:r>
              <a:rPr lang="en-US" dirty="0" err="1"/>
              <a:t>οσειριο</a:t>
            </a:r>
            <a:r>
              <a:rPr lang="en-US" dirty="0"/>
              <a:t>ποιήσει σωστά το μήνυμα. </a:t>
            </a:r>
          </a:p>
          <a:p>
            <a:pPr lvl="0"/>
            <a:r>
              <a:rPr lang="en-US" dirty="0" err="1"/>
              <a:t>Έλεγχος</a:t>
            </a:r>
            <a:r>
              <a:rPr lang="en-US" dirty="0"/>
              <a:t> </a:t>
            </a:r>
            <a:r>
              <a:rPr lang="en-US" dirty="0" err="1"/>
              <a:t>ότι</a:t>
            </a:r>
            <a:r>
              <a:rPr lang="en-US" dirty="0"/>
              <a:t> </a:t>
            </a:r>
            <a:r>
              <a:rPr lang="en-US" dirty="0" err="1"/>
              <a:t>μί</a:t>
            </a:r>
            <a:r>
              <a:rPr lang="en-US" dirty="0"/>
              <a:t>α αλλαγή στο όνομα πεδίου προκαλεί contract violation. </a:t>
            </a:r>
          </a:p>
          <a:p>
            <a:r>
              <a:rPr lang="en-US" dirty="0" err="1"/>
              <a:t>Με</a:t>
            </a:r>
            <a:r>
              <a:rPr lang="en-US" dirty="0"/>
              <a:t> α</a:t>
            </a:r>
            <a:r>
              <a:rPr lang="en-US" dirty="0" err="1"/>
              <a:t>υτόν</a:t>
            </a:r>
            <a:r>
              <a:rPr lang="en-US" dirty="0"/>
              <a:t> </a:t>
            </a:r>
            <a:r>
              <a:rPr lang="en-US" dirty="0" err="1"/>
              <a:t>τον</a:t>
            </a:r>
            <a:r>
              <a:rPr lang="en-US" dirty="0"/>
              <a:t> </a:t>
            </a:r>
            <a:r>
              <a:rPr lang="en-US" dirty="0" err="1"/>
              <a:t>τρό</a:t>
            </a:r>
            <a:r>
              <a:rPr lang="en-US" dirty="0"/>
              <a:t>πο ελέγχονται τόσο η κανονική λειτουργία όσο και μία μη συμβατή αλλαγή.</a:t>
            </a:r>
          </a:p>
          <a:p>
            <a:r>
              <a:rPr lang="en-US" dirty="0"/>
              <a:t>Τα tests </a:t>
            </a:r>
            <a:r>
              <a:rPr lang="en-US" dirty="0" err="1"/>
              <a:t>εκτελέστηκ</a:t>
            </a:r>
            <a:r>
              <a:rPr lang="en-US" dirty="0"/>
              <a:t>αν με την εντολή:</a:t>
            </a:r>
          </a:p>
          <a:p>
            <a:r>
              <a:rPr lang="en-US" dirty="0" err="1"/>
              <a:t>pytest</a:t>
            </a:r>
            <a:r>
              <a:rPr lang="en-US" dirty="0"/>
              <a:t> -v</a:t>
            </a:r>
          </a:p>
          <a:p>
            <a:r>
              <a:rPr lang="en-US" dirty="0" err="1"/>
              <a:t>Το</a:t>
            </a:r>
            <a:r>
              <a:rPr lang="en-US" dirty="0"/>
              <a:t> απ</a:t>
            </a:r>
            <a:r>
              <a:rPr lang="en-US" dirty="0" err="1"/>
              <a:t>οτέλεσμ</a:t>
            </a:r>
            <a:r>
              <a:rPr lang="en-US" dirty="0"/>
              <a:t>α ήταν:</a:t>
            </a:r>
          </a:p>
          <a:p>
            <a:r>
              <a:rPr lang="en-US" dirty="0"/>
              <a:t>collected 3 items</a:t>
            </a:r>
          </a:p>
          <a:p>
            <a:endParaRPr lang="en-US" dirty="0"/>
          </a:p>
          <a:p>
            <a:r>
              <a:rPr lang="en-US" dirty="0" err="1"/>
              <a:t>test_producer_serializes_invoice_according_to_contract</a:t>
            </a:r>
            <a:r>
              <a:rPr lang="en-US" dirty="0"/>
              <a:t> PASSED</a:t>
            </a:r>
          </a:p>
          <a:p>
            <a:r>
              <a:rPr lang="en-US" dirty="0" err="1"/>
              <a:t>test_consumer_deserializes_producer_message</a:t>
            </a:r>
            <a:r>
              <a:rPr lang="en-US" dirty="0"/>
              <a:t> PASSED</a:t>
            </a:r>
          </a:p>
          <a:p>
            <a:r>
              <a:rPr lang="en-US" dirty="0" err="1"/>
              <a:t>test_contract_violation_renamed_field_breaks_consumer</a:t>
            </a:r>
            <a:r>
              <a:rPr lang="en-US" dirty="0"/>
              <a:t> PASSED</a:t>
            </a:r>
          </a:p>
          <a:p>
            <a:endParaRPr lang="en-US" dirty="0"/>
          </a:p>
          <a:p>
            <a:r>
              <a:rPr lang="en-US" dirty="0"/>
              <a:t>3 passed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71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E46A209-5ABD-6412-7657-7305843F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95300"/>
            <a:ext cx="8915400" cy="541592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Έλεγχος</a:t>
            </a:r>
            <a:r>
              <a:rPr lang="en-US" b="1" dirty="0"/>
              <a:t> παραβία</a:t>
            </a:r>
            <a:r>
              <a:rPr lang="en-US" b="1" dirty="0" err="1"/>
              <a:t>σης</a:t>
            </a:r>
            <a:r>
              <a:rPr lang="en-US" b="1" dirty="0"/>
              <a:t> </a:t>
            </a:r>
            <a:r>
              <a:rPr lang="en-US" b="1" dirty="0" err="1"/>
              <a:t>του</a:t>
            </a:r>
            <a:r>
              <a:rPr lang="en-US" b="1" dirty="0"/>
              <a:t> Contract</a:t>
            </a:r>
          </a:p>
          <a:p>
            <a:r>
              <a:rPr lang="en-US" dirty="0" err="1"/>
              <a:t>Έν</a:t>
            </a:r>
            <a:r>
              <a:rPr lang="en-US" dirty="0"/>
              <a:t>α από τα tests ελέγχει σκόπιμα μία μη συμβατή αλλαγή.</a:t>
            </a:r>
          </a:p>
          <a:p>
            <a:r>
              <a:rPr lang="en-US" dirty="0" err="1"/>
              <a:t>Γι</a:t>
            </a:r>
            <a:r>
              <a:rPr lang="en-US" dirty="0"/>
              <a:t>α παράδειγμα, αν ο Provider αλλάξει το πεδίο:</a:t>
            </a:r>
          </a:p>
          <a:p>
            <a:r>
              <a:rPr lang="en-US" dirty="0" err="1"/>
              <a:t>customerName</a:t>
            </a:r>
            <a:endParaRPr lang="en-US" dirty="0"/>
          </a:p>
          <a:p>
            <a:r>
              <a:rPr lang="en-US" dirty="0" err="1"/>
              <a:t>σε</a:t>
            </a:r>
            <a:r>
              <a:rPr lang="en-US" dirty="0"/>
              <a:t>:</a:t>
            </a:r>
          </a:p>
          <a:p>
            <a:r>
              <a:rPr lang="en-US" dirty="0"/>
              <a:t>customer</a:t>
            </a:r>
          </a:p>
          <a:p>
            <a:r>
              <a:rPr lang="en-US" dirty="0"/>
              <a:t>ο Consumer </a:t>
            </a:r>
            <a:r>
              <a:rPr lang="en-US" dirty="0" err="1"/>
              <a:t>δεν</a:t>
            </a:r>
            <a:r>
              <a:rPr lang="en-US" dirty="0"/>
              <a:t> θα β</a:t>
            </a:r>
            <a:r>
              <a:rPr lang="en-US" dirty="0" err="1"/>
              <a:t>ρει</a:t>
            </a:r>
            <a:r>
              <a:rPr lang="en-US" dirty="0"/>
              <a:t> </a:t>
            </a:r>
            <a:r>
              <a:rPr lang="en-US" dirty="0" err="1"/>
              <a:t>το</a:t>
            </a:r>
            <a:r>
              <a:rPr lang="en-US" dirty="0"/>
              <a:t> π</a:t>
            </a:r>
            <a:r>
              <a:rPr lang="en-US" dirty="0" err="1"/>
              <a:t>εδίο</a:t>
            </a:r>
            <a:r>
              <a:rPr lang="en-US" dirty="0"/>
              <a:t> π</a:t>
            </a:r>
            <a:r>
              <a:rPr lang="en-US" dirty="0" err="1"/>
              <a:t>ου</a:t>
            </a:r>
            <a:r>
              <a:rPr lang="en-US" dirty="0"/>
              <a:t> ανα</a:t>
            </a:r>
            <a:r>
              <a:rPr lang="en-US" dirty="0" err="1"/>
              <a:t>μένει</a:t>
            </a:r>
            <a:r>
              <a:rPr lang="en-US" dirty="0"/>
              <a:t>.</a:t>
            </a:r>
          </a:p>
          <a:p>
            <a:r>
              <a:rPr lang="en-US" dirty="0" err="1"/>
              <a:t>Το</a:t>
            </a:r>
            <a:r>
              <a:rPr lang="en-US" dirty="0"/>
              <a:t> test επιβεβα</a:t>
            </a:r>
            <a:r>
              <a:rPr lang="en-US" dirty="0" err="1"/>
              <a:t>ιώνει</a:t>
            </a:r>
            <a:r>
              <a:rPr lang="en-US" dirty="0"/>
              <a:t> </a:t>
            </a:r>
            <a:r>
              <a:rPr lang="en-US" dirty="0" err="1"/>
              <a:t>ότι</a:t>
            </a:r>
            <a:r>
              <a:rPr lang="en-US" dirty="0"/>
              <a:t> </a:t>
            </a:r>
            <a:r>
              <a:rPr lang="en-US" dirty="0" err="1"/>
              <a:t>μί</a:t>
            </a:r>
            <a:r>
              <a:rPr lang="en-US" dirty="0"/>
              <a:t>α τέτοια αλλαγή αναγνωρίζεται ως contract violation.</a:t>
            </a:r>
          </a:p>
          <a:p>
            <a:r>
              <a:rPr lang="en-US" dirty="0" err="1"/>
              <a:t>Το</a:t>
            </a:r>
            <a:r>
              <a:rPr lang="en-US" dirty="0"/>
              <a:t> </a:t>
            </a:r>
            <a:r>
              <a:rPr lang="en-US" dirty="0" err="1"/>
              <a:t>συγκεκριμένο</a:t>
            </a:r>
            <a:r>
              <a:rPr lang="en-US" dirty="0"/>
              <a:t> test απ</a:t>
            </a:r>
            <a:r>
              <a:rPr lang="en-US" dirty="0" err="1"/>
              <a:t>οτρέ</a:t>
            </a:r>
            <a:r>
              <a:rPr lang="en-US" dirty="0"/>
              <a:t>πει αλλαγές που μπορεί να καταστρέψουν τη λειτουργία του Consumer.</a:t>
            </a:r>
          </a:p>
          <a:p>
            <a:r>
              <a:rPr lang="en-US" dirty="0" err="1"/>
              <a:t>Χωρίς</a:t>
            </a:r>
            <a:r>
              <a:rPr lang="en-US" dirty="0"/>
              <a:t> contract testing, ο Provider θα μπ</a:t>
            </a:r>
            <a:r>
              <a:rPr lang="en-US" dirty="0" err="1"/>
              <a:t>ορούσε</a:t>
            </a:r>
            <a:r>
              <a:rPr lang="en-US" dirty="0"/>
              <a:t> να α</a:t>
            </a:r>
            <a:r>
              <a:rPr lang="en-US" dirty="0" err="1"/>
              <a:t>λλάξει</a:t>
            </a:r>
            <a:r>
              <a:rPr lang="en-US" dirty="0"/>
              <a:t> </a:t>
            </a:r>
            <a:r>
              <a:rPr lang="en-US" dirty="0" err="1"/>
              <a:t>τη</a:t>
            </a:r>
            <a:r>
              <a:rPr lang="en-US" dirty="0"/>
              <a:t> </a:t>
            </a:r>
            <a:r>
              <a:rPr lang="en-US" dirty="0" err="1"/>
              <a:t>δομή</a:t>
            </a:r>
            <a:r>
              <a:rPr lang="en-US" dirty="0"/>
              <a:t> </a:t>
            </a:r>
            <a:r>
              <a:rPr lang="en-US" dirty="0" err="1"/>
              <a:t>της</a:t>
            </a:r>
            <a:r>
              <a:rPr lang="en-US" dirty="0"/>
              <a:t> απ</a:t>
            </a:r>
            <a:r>
              <a:rPr lang="en-US" dirty="0" err="1"/>
              <a:t>όκρισης</a:t>
            </a:r>
            <a:r>
              <a:rPr lang="en-US" dirty="0"/>
              <a:t> </a:t>
            </a:r>
            <a:r>
              <a:rPr lang="en-US" dirty="0" err="1"/>
              <a:t>χωρίς</a:t>
            </a:r>
            <a:r>
              <a:rPr lang="en-US" dirty="0"/>
              <a:t> </a:t>
            </a:r>
            <a:r>
              <a:rPr lang="en-US" dirty="0" err="1"/>
              <a:t>άμεση</a:t>
            </a:r>
            <a:r>
              <a:rPr lang="en-US" dirty="0"/>
              <a:t> </a:t>
            </a:r>
            <a:r>
              <a:rPr lang="en-US" dirty="0" err="1"/>
              <a:t>ειδο</a:t>
            </a:r>
            <a:r>
              <a:rPr lang="en-US" dirty="0"/>
              <a:t>ποίηση.</a:t>
            </a:r>
          </a:p>
          <a:p>
            <a:r>
              <a:rPr lang="en-US" dirty="0" err="1"/>
              <a:t>Με</a:t>
            </a:r>
            <a:r>
              <a:rPr lang="en-US" dirty="0"/>
              <a:t> </a:t>
            </a:r>
            <a:r>
              <a:rPr lang="en-US" dirty="0" err="1"/>
              <a:t>το</a:t>
            </a:r>
            <a:r>
              <a:rPr lang="en-US" dirty="0"/>
              <a:t> contract testing:</a:t>
            </a:r>
          </a:p>
          <a:p>
            <a:pPr lvl="0"/>
            <a:r>
              <a:rPr lang="en-US" dirty="0"/>
              <a:t>η α</a:t>
            </a:r>
            <a:r>
              <a:rPr lang="en-US" dirty="0" err="1"/>
              <a:t>συμ</a:t>
            </a:r>
            <a:r>
              <a:rPr lang="en-US" dirty="0"/>
              <a:t>βατότητα εντοπίζεται νωρίς, </a:t>
            </a:r>
          </a:p>
          <a:p>
            <a:pPr lvl="0"/>
            <a:r>
              <a:rPr lang="en-US" dirty="0" err="1"/>
              <a:t>μειώνοντ</a:t>
            </a:r>
            <a:r>
              <a:rPr lang="en-US" dirty="0"/>
              <a:t>αι τα σφάλματα στην παραγωγή, </a:t>
            </a:r>
          </a:p>
          <a:p>
            <a:pPr lvl="0"/>
            <a:r>
              <a:rPr lang="en-US" dirty="0" err="1"/>
              <a:t>οι</a:t>
            </a:r>
            <a:r>
              <a:rPr lang="en-US" dirty="0"/>
              <a:t> </a:t>
            </a:r>
            <a:r>
              <a:rPr lang="en-US" dirty="0" err="1"/>
              <a:t>ομάδες</a:t>
            </a:r>
            <a:r>
              <a:rPr lang="en-US" dirty="0"/>
              <a:t> μπ</a:t>
            </a:r>
            <a:r>
              <a:rPr lang="en-US" dirty="0" err="1"/>
              <a:t>ορούν</a:t>
            </a:r>
            <a:r>
              <a:rPr lang="en-US" dirty="0"/>
              <a:t> να αναπ</a:t>
            </a:r>
            <a:r>
              <a:rPr lang="en-US" dirty="0" err="1"/>
              <a:t>τύσσουν</a:t>
            </a:r>
            <a:r>
              <a:rPr lang="en-US" dirty="0"/>
              <a:t> α</a:t>
            </a:r>
            <a:r>
              <a:rPr lang="en-US" dirty="0" err="1"/>
              <a:t>νεξάρτητ</a:t>
            </a:r>
            <a:r>
              <a:rPr lang="en-US" dirty="0"/>
              <a:t>α τις υπηρεσίες τους, </a:t>
            </a:r>
          </a:p>
          <a:p>
            <a:pPr lvl="0"/>
            <a:r>
              <a:rPr lang="en-US" dirty="0" err="1"/>
              <a:t>οι</a:t>
            </a:r>
            <a:r>
              <a:rPr lang="en-US" dirty="0"/>
              <a:t> α</a:t>
            </a:r>
            <a:r>
              <a:rPr lang="en-US" dirty="0" err="1"/>
              <a:t>λλ</a:t>
            </a:r>
            <a:r>
              <a:rPr lang="en-US" dirty="0"/>
              <a:t>αγές στο API γίνονται με μεγαλύτερη ασφάλεια.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3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F24EA96-1C5A-6FAD-E2A0-170F2C5D7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90538"/>
            <a:ext cx="8915400" cy="5420684"/>
          </a:xfrm>
        </p:spPr>
        <p:txBody>
          <a:bodyPr/>
          <a:lstStyle/>
          <a:p>
            <a:r>
              <a:rPr lang="en-US" dirty="0"/>
              <a:t>Ο Provider </a:t>
            </a:r>
            <a:r>
              <a:rPr lang="en-US" dirty="0" err="1"/>
              <a:t>εκτελέστηκε</a:t>
            </a:r>
            <a:r>
              <a:rPr lang="en-US" dirty="0"/>
              <a:t> </a:t>
            </a:r>
            <a:r>
              <a:rPr lang="en-US" dirty="0" err="1"/>
              <a:t>σε</a:t>
            </a:r>
            <a:r>
              <a:rPr lang="en-US" dirty="0"/>
              <a:t> Docker container.</a:t>
            </a:r>
          </a:p>
          <a:p>
            <a:r>
              <a:rPr lang="en-US" dirty="0"/>
              <a:t>Η βα</a:t>
            </a:r>
            <a:r>
              <a:rPr lang="en-US" dirty="0" err="1"/>
              <a:t>σική</a:t>
            </a:r>
            <a:r>
              <a:rPr lang="en-US" dirty="0"/>
              <a:t> </a:t>
            </a:r>
            <a:r>
              <a:rPr lang="en-US" dirty="0" err="1"/>
              <a:t>εντολή</a:t>
            </a:r>
            <a:r>
              <a:rPr lang="en-US" dirty="0"/>
              <a:t> </a:t>
            </a:r>
            <a:r>
              <a:rPr lang="en-US" dirty="0" err="1"/>
              <a:t>ήτ</a:t>
            </a:r>
            <a:r>
              <a:rPr lang="en-US" dirty="0"/>
              <a:t>αν:</a:t>
            </a:r>
          </a:p>
          <a:p>
            <a:r>
              <a:rPr lang="en-US" dirty="0"/>
              <a:t>docker compose up --build</a:t>
            </a:r>
          </a:p>
          <a:p>
            <a:r>
              <a:rPr lang="en-US" dirty="0" err="1"/>
              <a:t>Το</a:t>
            </a:r>
            <a:r>
              <a:rPr lang="en-US" dirty="0"/>
              <a:t> Docker:</a:t>
            </a:r>
          </a:p>
          <a:p>
            <a:pPr lvl="0"/>
            <a:r>
              <a:rPr lang="en-US" dirty="0" err="1"/>
              <a:t>δημιούργησε</a:t>
            </a:r>
            <a:r>
              <a:rPr lang="en-US" dirty="0"/>
              <a:t> </a:t>
            </a:r>
            <a:r>
              <a:rPr lang="en-US" dirty="0" err="1"/>
              <a:t>το</a:t>
            </a:r>
            <a:r>
              <a:rPr lang="en-US" dirty="0"/>
              <a:t> image </a:t>
            </a:r>
            <a:r>
              <a:rPr lang="en-US" dirty="0" err="1"/>
              <a:t>της</a:t>
            </a:r>
            <a:r>
              <a:rPr lang="en-US" dirty="0"/>
              <a:t> </a:t>
            </a:r>
            <a:r>
              <a:rPr lang="en-US" dirty="0" err="1"/>
              <a:t>εφ</a:t>
            </a:r>
            <a:r>
              <a:rPr lang="en-US" dirty="0"/>
              <a:t>αρμογής, </a:t>
            </a:r>
          </a:p>
          <a:p>
            <a:pPr lvl="0"/>
            <a:r>
              <a:rPr lang="en-US" dirty="0" err="1"/>
              <a:t>εγκ</a:t>
            </a:r>
            <a:r>
              <a:rPr lang="en-US" dirty="0"/>
              <a:t>ατέστησε τις απαιτούμενες βιβλιοθήκες, </a:t>
            </a:r>
          </a:p>
          <a:p>
            <a:pPr lvl="0"/>
            <a:r>
              <a:rPr lang="en-US" dirty="0" err="1"/>
              <a:t>ξεκίνησε</a:t>
            </a:r>
            <a:r>
              <a:rPr lang="en-US" dirty="0"/>
              <a:t> </a:t>
            </a:r>
            <a:r>
              <a:rPr lang="en-US" dirty="0" err="1"/>
              <a:t>τον</a:t>
            </a:r>
            <a:r>
              <a:rPr lang="en-US" dirty="0"/>
              <a:t> </a:t>
            </a:r>
            <a:r>
              <a:rPr lang="en-US" dirty="0" err="1"/>
              <a:t>Uvicorn</a:t>
            </a:r>
            <a:r>
              <a:rPr lang="en-US" dirty="0"/>
              <a:t> server, </a:t>
            </a:r>
          </a:p>
          <a:p>
            <a:pPr lvl="0"/>
            <a:r>
              <a:rPr lang="en-US" dirty="0" err="1"/>
              <a:t>εξέθεσε</a:t>
            </a:r>
            <a:r>
              <a:rPr lang="en-US" dirty="0"/>
              <a:t> </a:t>
            </a:r>
            <a:r>
              <a:rPr lang="en-US" dirty="0" err="1"/>
              <a:t>την</a:t>
            </a:r>
            <a:r>
              <a:rPr lang="en-US" dirty="0"/>
              <a:t> υπ</a:t>
            </a:r>
            <a:r>
              <a:rPr lang="en-US" dirty="0" err="1"/>
              <a:t>ηρεσί</a:t>
            </a:r>
            <a:r>
              <a:rPr lang="en-US" dirty="0"/>
              <a:t>α στη θύρα 8000. </a:t>
            </a:r>
          </a:p>
          <a:p>
            <a:r>
              <a:rPr lang="en-US" dirty="0" err="1"/>
              <a:t>Το</a:t>
            </a:r>
            <a:r>
              <a:rPr lang="en-US" dirty="0"/>
              <a:t> API </a:t>
            </a:r>
            <a:r>
              <a:rPr lang="en-US" dirty="0" err="1"/>
              <a:t>έγινε</a:t>
            </a:r>
            <a:r>
              <a:rPr lang="en-US" dirty="0"/>
              <a:t> </a:t>
            </a:r>
            <a:r>
              <a:rPr lang="en-US" dirty="0" err="1"/>
              <a:t>δι</a:t>
            </a:r>
            <a:r>
              <a:rPr lang="en-US" dirty="0"/>
              <a:t>αθέσιμο στη διεύθυνση:</a:t>
            </a:r>
          </a:p>
          <a:p>
            <a:r>
              <a:rPr lang="en-US" dirty="0"/>
              <a:t>http://localhost:8000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92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FCE3C6C-9DBE-D9F0-B2F7-931DB975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61975"/>
            <a:ext cx="8915400" cy="5349247"/>
          </a:xfrm>
        </p:spPr>
        <p:txBody>
          <a:bodyPr/>
          <a:lstStyle/>
          <a:p>
            <a:r>
              <a:rPr lang="en-US" b="1" dirty="0" err="1"/>
              <a:t>Δοκιμή</a:t>
            </a:r>
            <a:r>
              <a:rPr lang="en-US" b="1" dirty="0"/>
              <a:t> </a:t>
            </a:r>
            <a:r>
              <a:rPr lang="en-US" b="1" dirty="0" err="1"/>
              <a:t>μέσω</a:t>
            </a:r>
            <a:r>
              <a:rPr lang="en-US" b="1" dirty="0"/>
              <a:t> Swagger UI</a:t>
            </a:r>
          </a:p>
          <a:p>
            <a:r>
              <a:rPr lang="en-US" dirty="0" err="1"/>
              <a:t>Το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δημιουργεί</a:t>
            </a:r>
            <a:r>
              <a:rPr lang="en-US" dirty="0"/>
              <a:t> α</a:t>
            </a:r>
            <a:r>
              <a:rPr lang="en-US" dirty="0" err="1"/>
              <a:t>υτόμ</a:t>
            </a:r>
            <a:r>
              <a:rPr lang="en-US" dirty="0"/>
              <a:t>ατα διαδραστική τεκμηρίωση μέσω Swagger UI.</a:t>
            </a:r>
          </a:p>
          <a:p>
            <a:r>
              <a:rPr lang="en-US" dirty="0"/>
              <a:t>Από </a:t>
            </a:r>
            <a:r>
              <a:rPr lang="en-US" dirty="0" err="1"/>
              <a:t>το</a:t>
            </a:r>
            <a:r>
              <a:rPr lang="en-US" dirty="0"/>
              <a:t> Swagger πρα</a:t>
            </a:r>
            <a:r>
              <a:rPr lang="en-US" dirty="0" err="1"/>
              <a:t>γμ</a:t>
            </a:r>
            <a:r>
              <a:rPr lang="en-US" dirty="0"/>
              <a:t>ατοποιήθηκαν τα παρακάτω βήματα:</a:t>
            </a:r>
          </a:p>
          <a:p>
            <a:pPr lvl="0"/>
            <a:r>
              <a:rPr lang="en-US" dirty="0"/>
              <a:t>Επ</a:t>
            </a:r>
            <a:r>
              <a:rPr lang="en-US" dirty="0" err="1"/>
              <a:t>ιλογή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GET /invoices/{</a:t>
            </a:r>
            <a:r>
              <a:rPr lang="en-US" dirty="0" err="1"/>
              <a:t>invoice_id</a:t>
            </a:r>
            <a:r>
              <a:rPr lang="en-US" dirty="0"/>
              <a:t>}. </a:t>
            </a:r>
          </a:p>
          <a:p>
            <a:pPr lvl="0"/>
            <a:r>
              <a:rPr lang="en-US" dirty="0" err="1"/>
              <a:t>Πάτημ</a:t>
            </a:r>
            <a:r>
              <a:rPr lang="en-US" dirty="0"/>
              <a:t>α του κουμπιού </a:t>
            </a:r>
            <a:r>
              <a:rPr lang="en-US" b="1" dirty="0"/>
              <a:t>Try it out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Εισ</a:t>
            </a:r>
            <a:r>
              <a:rPr lang="en-US" dirty="0"/>
              <a:t>αγωγή του invoice_id. </a:t>
            </a:r>
          </a:p>
          <a:p>
            <a:pPr lvl="0"/>
            <a:r>
              <a:rPr lang="en-US" dirty="0" err="1"/>
              <a:t>Πάτημ</a:t>
            </a:r>
            <a:r>
              <a:rPr lang="en-US" dirty="0"/>
              <a:t>α του κουμπιού </a:t>
            </a:r>
            <a:r>
              <a:rPr lang="en-US" b="1" dirty="0"/>
              <a:t>Execute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Έλεγχος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status code και </a:t>
            </a:r>
            <a:r>
              <a:rPr lang="en-US" dirty="0" err="1"/>
              <a:t>του</a:t>
            </a:r>
            <a:r>
              <a:rPr lang="en-US" dirty="0"/>
              <a:t> JSON response. </a:t>
            </a:r>
          </a:p>
          <a:p>
            <a:r>
              <a:rPr lang="en-US" dirty="0"/>
              <a:t>Η </a:t>
            </a:r>
            <a:r>
              <a:rPr lang="en-US" dirty="0" err="1"/>
              <a:t>δι</a:t>
            </a:r>
            <a:r>
              <a:rPr lang="en-US" dirty="0"/>
              <a:t>αδικασία εκτελέστηκε για τα IDs 1 και 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88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DF3FEEB-DE57-2BFD-5C7E-99557896C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04813"/>
            <a:ext cx="8915400" cy="5506409"/>
          </a:xfrm>
        </p:spPr>
        <p:txBody>
          <a:bodyPr/>
          <a:lstStyle/>
          <a:p>
            <a:r>
              <a:rPr lang="en-US" dirty="0"/>
              <a:t>Τα </a:t>
            </a:r>
            <a:r>
              <a:rPr lang="en-US" dirty="0" err="1"/>
              <a:t>τελικά</a:t>
            </a:r>
            <a:r>
              <a:rPr lang="en-US" dirty="0"/>
              <a:t> απ</a:t>
            </a:r>
            <a:r>
              <a:rPr lang="en-US" dirty="0" err="1"/>
              <a:t>οτελέσμ</a:t>
            </a:r>
            <a:r>
              <a:rPr lang="en-US" dirty="0"/>
              <a:t>ατα ήταν:</a:t>
            </a:r>
          </a:p>
          <a:p>
            <a:r>
              <a:rPr lang="en-US" dirty="0"/>
              <a:t>Contract tests: 3 passed</a:t>
            </a:r>
          </a:p>
          <a:p>
            <a:r>
              <a:rPr lang="en-US" dirty="0"/>
              <a:t>GET /invoices/1: 200 OK</a:t>
            </a:r>
          </a:p>
          <a:p>
            <a:r>
              <a:rPr lang="en-US" dirty="0"/>
              <a:t>GET /invoices/2: 200 OK</a:t>
            </a:r>
          </a:p>
          <a:p>
            <a:r>
              <a:rPr lang="en-US" dirty="0"/>
              <a:t>GET /invoices/0: 404 Not Found</a:t>
            </a:r>
          </a:p>
          <a:p>
            <a:r>
              <a:rPr lang="en-US" dirty="0"/>
              <a:t>Ο Provider επ</a:t>
            </a:r>
            <a:r>
              <a:rPr lang="en-US" dirty="0" err="1"/>
              <a:t>έστρεψε</a:t>
            </a:r>
            <a:r>
              <a:rPr lang="en-US" dirty="0"/>
              <a:t> </a:t>
            </a:r>
            <a:r>
              <a:rPr lang="en-US" dirty="0" err="1"/>
              <a:t>τη</a:t>
            </a:r>
            <a:r>
              <a:rPr lang="en-US" dirty="0"/>
              <a:t> </a:t>
            </a:r>
            <a:r>
              <a:rPr lang="en-US" dirty="0" err="1"/>
              <a:t>σωστή</a:t>
            </a:r>
            <a:r>
              <a:rPr lang="en-US" dirty="0"/>
              <a:t> </a:t>
            </a:r>
            <a:r>
              <a:rPr lang="en-US" dirty="0" err="1"/>
              <a:t>δομή</a:t>
            </a:r>
            <a:r>
              <a:rPr lang="en-US" dirty="0"/>
              <a:t> </a:t>
            </a:r>
            <a:r>
              <a:rPr lang="en-US" dirty="0" err="1"/>
              <a:t>δεδομένων</a:t>
            </a:r>
            <a:r>
              <a:rPr lang="en-US" dirty="0"/>
              <a:t> και ο Consumer πα</a:t>
            </a:r>
            <a:r>
              <a:rPr lang="en-US" dirty="0" err="1"/>
              <a:t>ρέμεινε</a:t>
            </a:r>
            <a:r>
              <a:rPr lang="en-US" dirty="0"/>
              <a:t> </a:t>
            </a:r>
            <a:r>
              <a:rPr lang="en-US" dirty="0" err="1"/>
              <a:t>συμ</a:t>
            </a:r>
            <a:r>
              <a:rPr lang="en-US" dirty="0"/>
              <a:t>βατός με το contract.</a:t>
            </a:r>
          </a:p>
          <a:p>
            <a:r>
              <a:rPr lang="en-US" dirty="0"/>
              <a:t>Η παραβία</a:t>
            </a:r>
            <a:r>
              <a:rPr lang="en-US" dirty="0" err="1"/>
              <a:t>ση</a:t>
            </a:r>
            <a:r>
              <a:rPr lang="en-US" dirty="0"/>
              <a:t> </a:t>
            </a:r>
            <a:r>
              <a:rPr lang="en-US" dirty="0" err="1"/>
              <a:t>του</a:t>
            </a:r>
            <a:r>
              <a:rPr lang="en-US" dirty="0"/>
              <a:t> contract </a:t>
            </a:r>
            <a:r>
              <a:rPr lang="en-US" dirty="0" err="1"/>
              <a:t>εντο</a:t>
            </a:r>
            <a:r>
              <a:rPr lang="en-US" dirty="0"/>
              <a:t>πίστηκε επιτυχώς από τα tests.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4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5034B72-2F73-8726-4E24-461B9F840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95288"/>
            <a:ext cx="8915400" cy="5515934"/>
          </a:xfrm>
        </p:spPr>
        <p:txBody>
          <a:bodyPr/>
          <a:lstStyle/>
          <a:p>
            <a:r>
              <a:rPr lang="en-US" dirty="0"/>
              <a:t>Η </a:t>
            </a:r>
            <a:r>
              <a:rPr lang="en-US" dirty="0" err="1"/>
              <a:t>χρήση</a:t>
            </a:r>
            <a:r>
              <a:rPr lang="en-US" dirty="0"/>
              <a:t> Consumer Driven Contract Testing π</a:t>
            </a:r>
            <a:r>
              <a:rPr lang="en-US" dirty="0" err="1"/>
              <a:t>ροσφέρει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α</a:t>
            </a:r>
            <a:r>
              <a:rPr lang="en-US" dirty="0" err="1"/>
              <a:t>νεξάρτητο</a:t>
            </a:r>
            <a:r>
              <a:rPr lang="en-US" dirty="0"/>
              <a:t> </a:t>
            </a:r>
            <a:r>
              <a:rPr lang="en-US" dirty="0" err="1"/>
              <a:t>έλεγχο</a:t>
            </a:r>
            <a:r>
              <a:rPr lang="en-US" dirty="0"/>
              <a:t> </a:t>
            </a:r>
            <a:r>
              <a:rPr lang="en-US" dirty="0" err="1"/>
              <a:t>των</a:t>
            </a:r>
            <a:r>
              <a:rPr lang="en-US" dirty="0"/>
              <a:t> microservices, </a:t>
            </a:r>
          </a:p>
          <a:p>
            <a:pPr lvl="0"/>
            <a:r>
              <a:rPr lang="en-US" dirty="0" err="1"/>
              <a:t>γρήγορο</a:t>
            </a:r>
            <a:r>
              <a:rPr lang="en-US" dirty="0"/>
              <a:t> </a:t>
            </a:r>
            <a:r>
              <a:rPr lang="en-US" dirty="0" err="1"/>
              <a:t>εντο</a:t>
            </a:r>
            <a:r>
              <a:rPr lang="en-US" dirty="0"/>
              <a:t>πισμό ασυμβατοτήτων, </a:t>
            </a:r>
          </a:p>
          <a:p>
            <a:pPr lvl="0"/>
            <a:r>
              <a:rPr lang="en-US" dirty="0" err="1"/>
              <a:t>μικρότερη</a:t>
            </a:r>
            <a:r>
              <a:rPr lang="en-US" dirty="0"/>
              <a:t> α</a:t>
            </a:r>
            <a:r>
              <a:rPr lang="en-US" dirty="0" err="1"/>
              <a:t>νάγκη</a:t>
            </a:r>
            <a:r>
              <a:rPr lang="en-US" dirty="0"/>
              <a:t> </a:t>
            </a:r>
            <a:r>
              <a:rPr lang="en-US" dirty="0" err="1"/>
              <a:t>γι</a:t>
            </a:r>
            <a:r>
              <a:rPr lang="en-US" dirty="0"/>
              <a:t>α περίπλοκα end-to-end tests, </a:t>
            </a:r>
          </a:p>
          <a:p>
            <a:pPr lvl="0"/>
            <a:r>
              <a:rPr lang="en-US" dirty="0"/>
              <a:t>α</a:t>
            </a:r>
            <a:r>
              <a:rPr lang="en-US" dirty="0" err="1"/>
              <a:t>σφ</a:t>
            </a:r>
            <a:r>
              <a:rPr lang="en-US" dirty="0"/>
              <a:t>αλέστερες αλλαγές στο API, </a:t>
            </a:r>
          </a:p>
          <a:p>
            <a:pPr lvl="0"/>
            <a:r>
              <a:rPr lang="en-US" dirty="0"/>
              <a:t>κα</a:t>
            </a:r>
            <a:r>
              <a:rPr lang="en-US" dirty="0" err="1"/>
              <a:t>λύτερη</a:t>
            </a:r>
            <a:r>
              <a:rPr lang="en-US" dirty="0"/>
              <a:t> </a:t>
            </a:r>
            <a:r>
              <a:rPr lang="en-US" dirty="0" err="1"/>
              <a:t>συνεργ</a:t>
            </a:r>
            <a:r>
              <a:rPr lang="en-US" dirty="0"/>
              <a:t>ασία μεταξύ ομάδων, </a:t>
            </a:r>
          </a:p>
          <a:p>
            <a:pPr lvl="0"/>
            <a:r>
              <a:rPr lang="en-US" dirty="0" err="1"/>
              <a:t>ευκολότερη</a:t>
            </a:r>
            <a:r>
              <a:rPr lang="en-US" dirty="0"/>
              <a:t> </a:t>
            </a:r>
            <a:r>
              <a:rPr lang="en-US" dirty="0" err="1"/>
              <a:t>ενσωμάτωση</a:t>
            </a:r>
            <a:r>
              <a:rPr lang="en-US" dirty="0"/>
              <a:t> </a:t>
            </a:r>
            <a:r>
              <a:rPr lang="en-US" dirty="0" err="1"/>
              <a:t>σε</a:t>
            </a:r>
            <a:r>
              <a:rPr lang="en-US" dirty="0"/>
              <a:t> CI/CD pipelines.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958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89E4B8B-B740-D0F9-C2AA-82CECBEE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71488"/>
            <a:ext cx="8915400" cy="5439734"/>
          </a:xfrm>
        </p:spPr>
        <p:txBody>
          <a:bodyPr/>
          <a:lstStyle/>
          <a:p>
            <a:r>
              <a:rPr lang="en-US" dirty="0" err="1"/>
              <a:t>Στην</a:t>
            </a:r>
            <a:r>
              <a:rPr lang="en-US" dirty="0"/>
              <a:t> </a:t>
            </a:r>
            <a:r>
              <a:rPr lang="en-US" dirty="0" err="1"/>
              <a:t>εργ</a:t>
            </a:r>
            <a:r>
              <a:rPr lang="en-US" dirty="0"/>
              <a:t>ασία υλοποιήθηκε ένα απλό σύστημα Provider–Consumer.</a:t>
            </a:r>
          </a:p>
          <a:p>
            <a:r>
              <a:rPr lang="en-US" dirty="0"/>
              <a:t>Ο Provider π</a:t>
            </a:r>
            <a:r>
              <a:rPr lang="en-US" dirty="0" err="1"/>
              <a:t>ροσφέρει</a:t>
            </a:r>
            <a:r>
              <a:rPr lang="en-US" dirty="0"/>
              <a:t> π</a:t>
            </a:r>
            <a:r>
              <a:rPr lang="en-US" dirty="0" err="1"/>
              <a:t>ληροφορίες</a:t>
            </a:r>
            <a:r>
              <a:rPr lang="en-US" dirty="0"/>
              <a:t> </a:t>
            </a:r>
            <a:r>
              <a:rPr lang="en-US" dirty="0" err="1"/>
              <a:t>τιμολογίων</a:t>
            </a:r>
            <a:r>
              <a:rPr lang="en-US" dirty="0"/>
              <a:t> </a:t>
            </a:r>
            <a:r>
              <a:rPr lang="en-US" dirty="0" err="1"/>
              <a:t>μέσω</a:t>
            </a:r>
            <a:r>
              <a:rPr lang="en-US" dirty="0"/>
              <a:t> REST API και ο Consumer ανα</a:t>
            </a:r>
            <a:r>
              <a:rPr lang="en-US" dirty="0" err="1"/>
              <a:t>μένει</a:t>
            </a:r>
            <a:r>
              <a:rPr lang="en-US" dirty="0"/>
              <a:t> </a:t>
            </a:r>
            <a:r>
              <a:rPr lang="en-US" dirty="0" err="1"/>
              <a:t>συγκεκριμένη</a:t>
            </a:r>
            <a:r>
              <a:rPr lang="en-US" dirty="0"/>
              <a:t> </a:t>
            </a:r>
            <a:r>
              <a:rPr lang="en-US" dirty="0" err="1"/>
              <a:t>δομή</a:t>
            </a:r>
            <a:r>
              <a:rPr lang="en-US" dirty="0"/>
              <a:t> </a:t>
            </a:r>
            <a:r>
              <a:rPr lang="en-US" dirty="0" err="1"/>
              <a:t>δεδομένων</a:t>
            </a:r>
            <a:r>
              <a:rPr lang="en-US" dirty="0"/>
              <a:t>.</a:t>
            </a:r>
          </a:p>
          <a:p>
            <a:r>
              <a:rPr lang="en-US" dirty="0" err="1"/>
              <a:t>Με</a:t>
            </a:r>
            <a:r>
              <a:rPr lang="en-US" dirty="0"/>
              <a:t> τα contract tests επιβεβα</a:t>
            </a:r>
            <a:r>
              <a:rPr lang="en-US" dirty="0" err="1"/>
              <a:t>ιώθηκε</a:t>
            </a:r>
            <a:r>
              <a:rPr lang="en-US" dirty="0"/>
              <a:t> </a:t>
            </a:r>
            <a:r>
              <a:rPr lang="en-US" dirty="0" err="1"/>
              <a:t>ότι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η </a:t>
            </a:r>
            <a:r>
              <a:rPr lang="en-US" dirty="0" err="1"/>
              <a:t>σειριο</a:t>
            </a:r>
            <a:r>
              <a:rPr lang="en-US" dirty="0"/>
              <a:t>ποίηση είναι σωστή, </a:t>
            </a:r>
          </a:p>
          <a:p>
            <a:pPr lvl="0"/>
            <a:r>
              <a:rPr lang="en-US" dirty="0"/>
              <a:t>ο Consumer </a:t>
            </a:r>
            <a:r>
              <a:rPr lang="en-US" dirty="0" err="1"/>
              <a:t>δι</a:t>
            </a:r>
            <a:r>
              <a:rPr lang="en-US" dirty="0"/>
              <a:t>αβάζει σωστά τις αποκρίσεις, </a:t>
            </a:r>
          </a:p>
          <a:p>
            <a:pPr lvl="0"/>
            <a:r>
              <a:rPr lang="en-US" dirty="0" err="1"/>
              <a:t>οι</a:t>
            </a:r>
            <a:r>
              <a:rPr lang="en-US" dirty="0"/>
              <a:t> α</a:t>
            </a:r>
            <a:r>
              <a:rPr lang="en-US" dirty="0" err="1"/>
              <a:t>σύμ</a:t>
            </a:r>
            <a:r>
              <a:rPr lang="en-US" dirty="0"/>
              <a:t>βατες αλλαγές εντοπίζονται, </a:t>
            </a:r>
          </a:p>
          <a:p>
            <a:pPr lvl="0"/>
            <a:r>
              <a:rPr lang="en-US" dirty="0" err="1"/>
              <a:t>το</a:t>
            </a:r>
            <a:r>
              <a:rPr lang="en-US" dirty="0"/>
              <a:t> API </a:t>
            </a:r>
            <a:r>
              <a:rPr lang="en-US" dirty="0" err="1"/>
              <a:t>λειτουργεί</a:t>
            </a:r>
            <a:r>
              <a:rPr lang="en-US" dirty="0"/>
              <a:t> </a:t>
            </a:r>
            <a:r>
              <a:rPr lang="en-US" dirty="0" err="1"/>
              <a:t>σωστά</a:t>
            </a:r>
            <a:r>
              <a:rPr lang="en-US" dirty="0"/>
              <a:t> </a:t>
            </a:r>
            <a:r>
              <a:rPr lang="en-US" dirty="0" err="1"/>
              <a:t>μέσ</a:t>
            </a:r>
            <a:r>
              <a:rPr lang="en-US" dirty="0"/>
              <a:t>α σε Docker. </a:t>
            </a:r>
          </a:p>
          <a:p>
            <a:r>
              <a:rPr lang="en-US" dirty="0" err="1"/>
              <a:t>Το</a:t>
            </a:r>
            <a:r>
              <a:rPr lang="en-US" dirty="0"/>
              <a:t> Consumer Driven Contract Testing απ</a:t>
            </a:r>
            <a:r>
              <a:rPr lang="en-US" dirty="0" err="1"/>
              <a:t>οτελεί</a:t>
            </a:r>
            <a:r>
              <a:rPr lang="en-US" dirty="0"/>
              <a:t> απ</a:t>
            </a:r>
            <a:r>
              <a:rPr lang="en-US" dirty="0" err="1"/>
              <a:t>οτελεσμ</a:t>
            </a:r>
            <a:r>
              <a:rPr lang="en-US"/>
              <a:t>ατική τεχνική για την αξιόπιστη επικοινωνία μεταξύ microservices.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92396"/>
      </p:ext>
    </p:extLst>
  </p:cSld>
  <p:clrMapOvr>
    <a:masterClrMapping/>
  </p:clrMapOvr>
</p:sld>
</file>

<file path=ppt/theme/theme1.xml><?xml version="1.0" encoding="utf-8"?>
<a:theme xmlns:a="http://schemas.openxmlformats.org/drawingml/2006/main" name="Θρόισμα">
  <a:themeElements>
    <a:clrScheme name="Θρόισμα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Θρόισμα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Θρόισμα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</TotalTime>
  <Words>1236</Words>
  <Application>Microsoft Office PowerPoint</Application>
  <PresentationFormat>Ευρεία οθόνη</PresentationFormat>
  <Paragraphs>191</Paragraphs>
  <Slides>20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Θρόισμα</vt:lpstr>
      <vt:lpstr>ΤΕΧΝΗΤΗ ΝΟΗΜΟΣΥΝΗ ΚΑΙ ΜΙΚΡΟΫΠΗΡΕΣΙΕΣ</vt:lpstr>
      <vt:lpstr>CONSUMER DRIVING CONTRACT ΣΕ MICROSERVICE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ANASTASIA KAPELLAKI</dc:creator>
  <cp:lastModifiedBy>ANASTASIA KAPELLAKI</cp:lastModifiedBy>
  <cp:revision>1</cp:revision>
  <dcterms:created xsi:type="dcterms:W3CDTF">2026-08-01T10:41:38Z</dcterms:created>
  <dcterms:modified xsi:type="dcterms:W3CDTF">2026-08-01T11:48:43Z</dcterms:modified>
</cp:coreProperties>
</file>